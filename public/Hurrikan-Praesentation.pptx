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SPRECHER 1 · ≈ 25 s</a:t>
            </a:r>
          </a:p>
          <a:p/>
          <a:p>
            <a:r>
              <a:t>Anfang September 2019 blicken die Wettersatelliten auf einen gigantischen weißen Wirbel über dem Atlantik: Hurrikan Dorian. In den nächsten Minuten erklären wir, was ein Hurrikan ist, wie er entsteht, was er anrichtet — und warum ausgerechnet der karibische Raum so verwundbar ist.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SPRECHER 1 · ≈ 30 s</a:t>
            </a:r>
          </a:p>
          <a:p/>
          <a:p>
            <a:r>
              <a:t>Hurrikans sind starke tropische Wirbelstürme mit Windgeschwindigkeiten über 118 Kilometern pro Stunde. Je nach Region heißen sie anders: im Atlantik Hurrikan, im Nordwest-Pazifik Taifun, im Indischen Ozean Zyklon. Die Hurrikansaison dauert von Anfang Juni bis Ende November — im Durchschnitt bilden sich sechs Hurrikans pro Jahr.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SPRECHER 1 · ≈ 30 s (Teil 1 von 2)</a:t>
            </a:r>
          </a:p>
          <a:p/>
          <a:p>
            <a:r>
              <a:t>Ein Hurrikan entsteht nur unter ganz bestimmten Bedingungen. Erstens: Das Meer muss mindestens 26 Grad warm sein — bis in etwa 50 Meter Tiefe. Durch die starke Sonneneinstrahlung verdunsten riesige Wassermengen. Die feuchtwarme Luft steigt auf, der Wasserdampf kondensiert zu Wolken — dabei wird Wärme frei, die den Aufstieg weiter antreibt: Die Luft steigt konvektiv immer weiter nach oben.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SPRECHER 1 · ≈ 25 s (Teil 2 von 2)</a:t>
            </a:r>
          </a:p>
          <a:p/>
          <a:p>
            <a:r>
              <a:t>An der Meeresoberfläche entsteht Unterdruck, und von außen strömt neue feuchte Luft nach. Erst der Corioliseffekt — ab etwa fünf bis acht Grad Abstand vom Äquator — bringt das Ganze zum Rotieren. In der Mitte sinkt kalte Luft ab und bildet das wolkenlose Auge. So ein Wirbel kann einen Durchmesser von tausend Kilometern erreichen.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SPRECHER 2 · ≈ 30 s</a:t>
            </a:r>
          </a:p>
          <a:p/>
          <a:p>
            <a:r>
              <a:t>Im Querschnitt erkennt man den Bauplan: In der Mitte das ruhige, wolkenlose Auge. Direkt darum die Augenwand — hier toben die stärksten Winde und der heftigste Regen. Nach außen schließen sich spiralförmige Regenbänder an. Unten strömt die Luft zum Zentrum, steigt in der Augenwand auf und fließt oben wieder nach außen ab — wie eine riesige Wärmekraftmaschine.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SPRECHER 2 · ≈ 30 s</a:t>
            </a:r>
          </a:p>
          <a:p/>
          <a:p>
            <a:r>
              <a:t>Hurrikans entstehen über den warmen Meeresregionen westlich von Afrika und ziehen mit den Passatwinden nach Westen — genau auf die Karibik zu. Später drehen ihre Bahnen nach Norden ab. Trifft ein Hurrikan auf Land, wird ihm der Nachschub an Wasserdampf entzogen: Er schwächt sich ab und stirbt.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SPRECHER 2 · ≈ 30 s</a:t>
            </a:r>
          </a:p>
          <a:p/>
          <a:p>
            <a:r>
              <a:t>Zurück zu Dorian. Am 1. September 2019 erreicht er die Bahamas — als Hurrikan der höchsten Kategorie 5, mit Windgeschwindigkeiten von fast 300 Kilometern pro Stunde. Und dann passiert das Schlimmste: Dorian bleibt fast 24 Stunden nahezu stehen — und wütet ununterbrochen über denselben Inseln.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SPRECHER 2 · ≈ 30 s</a:t>
            </a:r>
          </a:p>
          <a:p/>
          <a:p>
            <a:r>
              <a:t>Dabei wirken gleich mehrere Gefahren zusammen: Der Orkanwind zerstört Gebäude und Infrastruktur. Meterhohe Flutwellen überschwemmen die Küsten. Starkregen löst großflächige Überschwemmungen aus — und an Hängen sogar Schlammlawinen und Erdrutsche. Die Folgen: Versorgungsengpässe, Gesundheitsrisiken und enorme wirtschaftliche Verluste.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SPRECHER 3 · ≈ 35 s</a:t>
            </a:r>
          </a:p>
          <a:p/>
          <a:p>
            <a:r>
              <a:t>Auf den Bahamas sind die Folgen katastrophal. Ein Augenzeuge beschreibt es so: „Man kann nicht erkennen, dass dort mal Häuser standen.“ Rund 13.000 Wohnhäuser werden schwer beschädigt oder zerstört. 70.000 Menschen — fast jeder fünfte Einwohner — brauchen dringend Hilfe zum Überleben. Die Regierung bittet die Weltgesundheitsorganisation und das Welternährungsprogramm um Unterstützung.</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SPRECHER 3 · ≈ 40 s</a:t>
            </a:r>
          </a:p>
          <a:p/>
          <a:p>
            <a:r>
              <a:t>Damit zur Leitfrage: Wieso ist der karibische Raum besonders verwundbar? Die Inselstaaten liegen mitten im Entstehungsgebiet und auf den Zugbahnen der Hurrikans — und fast alles Leben spielt sich in Küstennähe ab. Dazu kommen marode Bausubstanz, veraltete Infrastruktur und oft unzureichende Warn- und Schutzsysteme. Die USA zeigen, was möglich wäre: Das National Hurricane Center überwacht jeden Sturm, Warnungen kommen über Fernsehen, Radio und Handy, Evakuierungspläne liegen fertig in der Schublade. Vielen kleinen Inselstaaten fehlen genau diese Mittel — ihre Vulnerabilität ist deshalb besonders groß.</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SPRECHER 3 · ≈ 30 s</a:t>
            </a:r>
          </a:p>
          <a:p/>
          <a:p>
            <a:r>
              <a:t>Der Klimawandel verschärft das Problem: Wärmere Ozeane liefern mehr Energie. Der Anteil besonders starker Hurrikane nimmt zu, sie bringen mehr Regen, und der steigende Meeresspiegel macht jede Sturmflut gefährlicher. Und selbst Europa bleibt nicht ganz verschont: Ex-Hurrikane wie Ophelia haben 2017 Irland erreicht, und im Mittelmeer treten sogenannte Medicanes auf.</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ALLE / SPRECHER 1 · ≈ 20 s</a:t>
            </a:r>
          </a:p>
          <a:p/>
          <a:p>
            <a:r>
              <a:t>Ein Hurrikan ist also eine gewaltige Wärmekraftmaschine des Ozeans — und die Karibik liegt genau in ihrer Zugbahn. Naturgefahr und Verwundbarkeit treffen hier aufeinander: Darum ist der karibische Raum besonders verwundbar. Danke fürs Zuschauen!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REGIE-TIPPS</a:t>
            </a:r>
          </a:p>
          <a:p/>
          <a:p>
            <a:r>
              <a:t>• In Keynote: Ansicht → Moderator-Notizen einblenden — dort steht der komplette Sprechertext mit Zeitangaben.</a:t>
            </a:r>
          </a:p>
          <a:p>
            <a:r>
              <a:t>• Fürs Video: Keynote-Präsentation abspielen und den Bildschirm aufnehmen (QuickTime: Ablage → Neue Bildschirmaufnahme, oder OBS). Ton übers Headset.</a:t>
            </a:r>
          </a:p>
          <a:p>
            <a:r>
              <a:t>• Vorher einmal komplett proben und die Zeit stoppen (Ziel: 5–6 Minuten).</a:t>
            </a:r>
          </a:p>
          <a:p>
            <a:r>
              <a:t>• Namen auf der Fazit-Folie eintragen!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119"/>
        </a:solidFill>
        <a:effectLst/>
      </p:bgPr>
    </p:bg>
    <p:spTree>
      <p:nvGrpSpPr>
        <p:cNvPr id="1" name=""/>
        <p:cNvGrpSpPr/>
        <p:nvPr/>
      </p:nvGrpSpPr>
      <p:grpSpPr/>
      <p:pic>
        <p:nvPicPr>
          <p:cNvPr id="2" name="Picture 1" descr="storm_hero.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914400" y="1417320"/>
            <a:ext cx="10360152" cy="457200"/>
          </a:xfrm>
          <a:prstGeom prst="rect">
            <a:avLst/>
          </a:prstGeom>
          <a:noFill/>
        </p:spPr>
        <p:txBody>
          <a:bodyPr wrap="square" anchor="t">
            <a:spAutoFit/>
          </a:bodyPr>
          <a:lstStyle/>
          <a:p>
            <a:pPr algn="ctr">
              <a:spcBef>
                <a:spcPts val="0"/>
              </a:spcBef>
              <a:spcAft>
                <a:spcPts val="600"/>
              </a:spcAft>
            </a:pPr>
            <a:r>
              <a:rPr sz="1300" b="0" i="0" spc="350">
                <a:solidFill>
                  <a:srgbClr val="62C8DE"/>
                </a:solidFill>
                <a:latin typeface="Menlo"/>
              </a:rPr>
              <a:t>GEOGRAPHIE · ERKLÄRVIDEO · ≈ 6 MINUTEN</a:t>
            </a:r>
          </a:p>
        </p:txBody>
      </p:sp>
      <p:sp>
        <p:nvSpPr>
          <p:cNvPr id="4" name="TextBox 3"/>
          <p:cNvSpPr txBox="1"/>
          <p:nvPr/>
        </p:nvSpPr>
        <p:spPr>
          <a:xfrm>
            <a:off x="640080" y="1828800"/>
            <a:ext cx="10908792" cy="2011680"/>
          </a:xfrm>
          <a:prstGeom prst="rect">
            <a:avLst/>
          </a:prstGeom>
          <a:noFill/>
        </p:spPr>
        <p:txBody>
          <a:bodyPr wrap="square" anchor="t">
            <a:spAutoFit/>
          </a:bodyPr>
          <a:lstStyle/>
          <a:p>
            <a:pPr algn="ctr">
              <a:spcBef>
                <a:spcPts val="0"/>
              </a:spcBef>
              <a:spcAft>
                <a:spcPts val="600"/>
              </a:spcAft>
            </a:pPr>
            <a:r>
              <a:rPr sz="12000" b="1" i="0">
                <a:solidFill>
                  <a:srgbClr val="E8EEF5"/>
                </a:solidFill>
                <a:latin typeface="Avenir Next Condensed"/>
              </a:rPr>
              <a:t>HURRIKAN</a:t>
            </a:r>
          </a:p>
        </p:txBody>
      </p:sp>
      <p:sp>
        <p:nvSpPr>
          <p:cNvPr id="5" name="TextBox 4"/>
          <p:cNvSpPr txBox="1"/>
          <p:nvPr/>
        </p:nvSpPr>
        <p:spPr>
          <a:xfrm>
            <a:off x="2194560" y="3977639"/>
            <a:ext cx="7799831" cy="822960"/>
          </a:xfrm>
          <a:prstGeom prst="rect">
            <a:avLst/>
          </a:prstGeom>
          <a:noFill/>
        </p:spPr>
        <p:txBody>
          <a:bodyPr wrap="square" anchor="t">
            <a:spAutoFit/>
          </a:bodyPr>
          <a:lstStyle/>
          <a:p>
            <a:pPr algn="ctr">
              <a:lnSpc>
                <a:spcPct val="115000"/>
              </a:lnSpc>
              <a:spcBef>
                <a:spcPts val="0"/>
              </a:spcBef>
              <a:spcAft>
                <a:spcPts val="600"/>
              </a:spcAft>
            </a:pPr>
            <a:r>
              <a:rPr sz="2200" b="0" i="0">
                <a:solidFill>
                  <a:srgbClr val="E8EEF5"/>
                </a:solidFill>
                <a:latin typeface="Helvetica Neue"/>
              </a:rPr>
              <a:t>Wieso ist der karibische Raum besonders verwundbar?</a:t>
            </a:r>
          </a:p>
        </p:txBody>
      </p:sp>
      <p:sp>
        <p:nvSpPr>
          <p:cNvPr id="6" name="TextBox 5"/>
          <p:cNvSpPr txBox="1"/>
          <p:nvPr/>
        </p:nvSpPr>
        <p:spPr>
          <a:xfrm>
            <a:off x="1371600" y="5120640"/>
            <a:ext cx="9445752" cy="457200"/>
          </a:xfrm>
          <a:prstGeom prst="rect">
            <a:avLst/>
          </a:prstGeom>
          <a:noFill/>
        </p:spPr>
        <p:txBody>
          <a:bodyPr wrap="square" anchor="t">
            <a:spAutoFit/>
          </a:bodyPr>
          <a:lstStyle/>
          <a:p>
            <a:pPr algn="ctr">
              <a:spcBef>
                <a:spcPts val="0"/>
              </a:spcBef>
              <a:spcAft>
                <a:spcPts val="600"/>
              </a:spcAft>
            </a:pPr>
            <a:r>
              <a:rPr sz="1100" b="0" i="0" spc="250">
                <a:solidFill>
                  <a:srgbClr val="9AA8BA"/>
                </a:solidFill>
                <a:latin typeface="Menlo"/>
              </a:rPr>
              <a:t>FALLBEISPIEL DORIAN 2019   ·   ENTSTEHUNG   ·   GEFAHREN   ·   VERWUNDBARKEIT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1119"/>
        </a:solidFill>
        <a:effectLst/>
      </p:bgPr>
    </p:bg>
    <p:spTree>
      <p:nvGrpSpPr>
        <p:cNvPr id="1" name=""/>
        <p:cNvGrpSpPr/>
        <p:nvPr/>
      </p:nvGrpSpPr>
      <p:grpSpPr/>
      <p:sp>
        <p:nvSpPr>
          <p:cNvPr id="2" name="TextBox 1"/>
          <p:cNvSpPr txBox="1"/>
          <p:nvPr/>
        </p:nvSpPr>
        <p:spPr>
          <a:xfrm>
            <a:off x="685800" y="502920"/>
            <a:ext cx="10789920" cy="365760"/>
          </a:xfrm>
          <a:prstGeom prst="rect">
            <a:avLst/>
          </a:prstGeom>
          <a:noFill/>
        </p:spPr>
        <p:txBody>
          <a:bodyPr wrap="square" anchor="t">
            <a:spAutoFit/>
          </a:bodyPr>
          <a:lstStyle/>
          <a:p>
            <a:pPr algn="l">
              <a:spcBef>
                <a:spcPts val="0"/>
              </a:spcBef>
              <a:spcAft>
                <a:spcPts val="600"/>
              </a:spcAft>
            </a:pPr>
            <a:r>
              <a:rPr sz="1200" b="0" i="0" spc="300">
                <a:solidFill>
                  <a:srgbClr val="62C8DE"/>
                </a:solidFill>
                <a:latin typeface="Menlo"/>
              </a:rPr>
              <a:t>KAPITEL 01 · WAS IST DAS?</a:t>
            </a:r>
          </a:p>
        </p:txBody>
      </p:sp>
      <p:sp>
        <p:nvSpPr>
          <p:cNvPr id="3" name="TextBox 2"/>
          <p:cNvSpPr txBox="1"/>
          <p:nvPr/>
        </p:nvSpPr>
        <p:spPr>
          <a:xfrm>
            <a:off x="658368" y="868680"/>
            <a:ext cx="10881360" cy="1463040"/>
          </a:xfrm>
          <a:prstGeom prst="rect">
            <a:avLst/>
          </a:prstGeom>
          <a:noFill/>
        </p:spPr>
        <p:txBody>
          <a:bodyPr wrap="square" anchor="t">
            <a:spAutoFit/>
          </a:bodyPr>
          <a:lstStyle/>
          <a:p>
            <a:pPr algn="l">
              <a:lnSpc>
                <a:spcPct val="98000"/>
              </a:lnSpc>
              <a:spcBef>
                <a:spcPts val="0"/>
              </a:spcBef>
              <a:spcAft>
                <a:spcPts val="600"/>
              </a:spcAft>
            </a:pPr>
            <a:r>
              <a:rPr sz="4400" b="1" i="0">
                <a:solidFill>
                  <a:srgbClr val="E8EEF5"/>
                </a:solidFill>
                <a:latin typeface="Avenir Next Condensed"/>
              </a:rPr>
              <a:t>EIN WIRBELSTURM MIT ANSAGE</a:t>
            </a:r>
          </a:p>
        </p:txBody>
      </p:sp>
      <p:sp>
        <p:nvSpPr>
          <p:cNvPr id="4" name="TextBox 3"/>
          <p:cNvSpPr txBox="1"/>
          <p:nvPr/>
        </p:nvSpPr>
        <p:spPr>
          <a:xfrm>
            <a:off x="685800" y="1783080"/>
            <a:ext cx="10058400" cy="822960"/>
          </a:xfrm>
          <a:prstGeom prst="rect">
            <a:avLst/>
          </a:prstGeom>
          <a:noFill/>
        </p:spPr>
        <p:txBody>
          <a:bodyPr wrap="square" anchor="t">
            <a:spAutoFit/>
          </a:bodyPr>
          <a:lstStyle/>
          <a:p>
            <a:pPr algn="l">
              <a:lnSpc>
                <a:spcPct val="125000"/>
              </a:lnSpc>
              <a:spcBef>
                <a:spcPts val="0"/>
              </a:spcBef>
              <a:spcAft>
                <a:spcPts val="600"/>
              </a:spcAft>
            </a:pPr>
            <a:r>
              <a:rPr sz="1700" b="1" i="0">
                <a:solidFill>
                  <a:srgbClr val="E8EEF5"/>
                </a:solidFill>
                <a:latin typeface="Helvetica Neue"/>
              </a:rPr>
              <a:t>Hurrikans</a:t>
            </a:r>
            <a:r>
              <a:rPr sz="1700" b="0" i="0">
                <a:solidFill>
                  <a:srgbClr val="9AA8BA"/>
                </a:solidFill>
                <a:latin typeface="Helvetica Neue"/>
              </a:rPr>
              <a:t> sind starke tropische Wirbelstürme mit Windgeschwindigkeiten von </a:t>
            </a:r>
            <a:r>
              <a:rPr sz="1700" b="1" i="0">
                <a:solidFill>
                  <a:srgbClr val="E8EEF5"/>
                </a:solidFill>
                <a:latin typeface="Helvetica Neue"/>
              </a:rPr>
              <a:t>über 118 km/h</a:t>
            </a:r>
            <a:r>
              <a:rPr sz="1700" b="0" i="0">
                <a:solidFill>
                  <a:srgbClr val="9AA8BA"/>
                </a:solidFill>
                <a:latin typeface="Helvetica Neue"/>
              </a:rPr>
              <a:t>. Sie entstehen nur unter ganz bestimmten Bedingungen — und heißen je nach Weltregion anders:</a:t>
            </a:r>
          </a:p>
        </p:txBody>
      </p:sp>
      <p:sp>
        <p:nvSpPr>
          <p:cNvPr id="5" name="Rounded Rectangle 4"/>
          <p:cNvSpPr/>
          <p:nvPr/>
        </p:nvSpPr>
        <p:spPr>
          <a:xfrm>
            <a:off x="685800" y="2743200"/>
            <a:ext cx="3429000" cy="1143000"/>
          </a:xfrm>
          <a:prstGeom prst="roundRect">
            <a:avLst>
              <a:gd name="adj" fmla="val 4500"/>
            </a:avLst>
          </a:prstGeom>
          <a:solidFill>
            <a:srgbClr val="111A27"/>
          </a:solidFill>
          <a:ln w="9525">
            <a:solidFill>
              <a:srgbClr val="2A36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41832" y="2907792"/>
            <a:ext cx="2926080" cy="914400"/>
          </a:xfrm>
          <a:prstGeom prst="rect">
            <a:avLst/>
          </a:prstGeom>
          <a:noFill/>
        </p:spPr>
        <p:txBody>
          <a:bodyPr wrap="square" anchor="t">
            <a:spAutoFit/>
          </a:bodyPr>
          <a:lstStyle/>
          <a:p>
            <a:pPr algn="l">
              <a:spcBef>
                <a:spcPts val="0"/>
              </a:spcBef>
              <a:spcAft>
                <a:spcPts val="600"/>
              </a:spcAft>
            </a:pPr>
            <a:r>
              <a:rPr sz="2400" b="1" i="0">
                <a:solidFill>
                  <a:srgbClr val="E8EEF5"/>
                </a:solidFill>
                <a:latin typeface="Avenir Next Condensed"/>
              </a:rPr>
              <a:t>HURRIKAN</a:t>
            </a:r>
          </a:p>
          <a:p>
            <a:pPr algn="l">
              <a:spcBef>
                <a:spcPts val="200"/>
              </a:spcBef>
              <a:spcAft>
                <a:spcPts val="600"/>
              </a:spcAft>
            </a:pPr>
            <a:r>
              <a:rPr sz="1100" b="0" i="0" spc="200">
                <a:solidFill>
                  <a:srgbClr val="62C8DE"/>
                </a:solidFill>
                <a:latin typeface="Menlo"/>
              </a:rPr>
              <a:t>ATLANTIK &amp; OSTPAZIFIK</a:t>
            </a:r>
          </a:p>
        </p:txBody>
      </p:sp>
      <p:sp>
        <p:nvSpPr>
          <p:cNvPr id="7" name="Rounded Rectangle 6"/>
          <p:cNvSpPr/>
          <p:nvPr/>
        </p:nvSpPr>
        <p:spPr>
          <a:xfrm>
            <a:off x="4370832" y="2743200"/>
            <a:ext cx="3429000" cy="1143000"/>
          </a:xfrm>
          <a:prstGeom prst="roundRect">
            <a:avLst>
              <a:gd name="adj" fmla="val 4500"/>
            </a:avLst>
          </a:prstGeom>
          <a:solidFill>
            <a:srgbClr val="111A27"/>
          </a:solidFill>
          <a:ln w="9525">
            <a:solidFill>
              <a:srgbClr val="2A36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626864" y="2907792"/>
            <a:ext cx="2926080" cy="914400"/>
          </a:xfrm>
          <a:prstGeom prst="rect">
            <a:avLst/>
          </a:prstGeom>
          <a:noFill/>
        </p:spPr>
        <p:txBody>
          <a:bodyPr wrap="square" anchor="t">
            <a:spAutoFit/>
          </a:bodyPr>
          <a:lstStyle/>
          <a:p>
            <a:pPr algn="l">
              <a:spcBef>
                <a:spcPts val="0"/>
              </a:spcBef>
              <a:spcAft>
                <a:spcPts val="600"/>
              </a:spcAft>
            </a:pPr>
            <a:r>
              <a:rPr sz="2400" b="1" i="0">
                <a:solidFill>
                  <a:srgbClr val="E8EEF5"/>
                </a:solidFill>
                <a:latin typeface="Avenir Next Condensed"/>
              </a:rPr>
              <a:t>TAIFUN</a:t>
            </a:r>
          </a:p>
          <a:p>
            <a:pPr algn="l">
              <a:spcBef>
                <a:spcPts val="200"/>
              </a:spcBef>
              <a:spcAft>
                <a:spcPts val="600"/>
              </a:spcAft>
            </a:pPr>
            <a:r>
              <a:rPr sz="1100" b="0" i="0" spc="200">
                <a:solidFill>
                  <a:srgbClr val="62C8DE"/>
                </a:solidFill>
                <a:latin typeface="Menlo"/>
              </a:rPr>
              <a:t>NORDWEST-PAZIFIK</a:t>
            </a:r>
          </a:p>
        </p:txBody>
      </p:sp>
      <p:sp>
        <p:nvSpPr>
          <p:cNvPr id="9" name="Rounded Rectangle 8"/>
          <p:cNvSpPr/>
          <p:nvPr/>
        </p:nvSpPr>
        <p:spPr>
          <a:xfrm>
            <a:off x="8055864" y="2743200"/>
            <a:ext cx="3429000" cy="1143000"/>
          </a:xfrm>
          <a:prstGeom prst="roundRect">
            <a:avLst>
              <a:gd name="adj" fmla="val 4500"/>
            </a:avLst>
          </a:prstGeom>
          <a:solidFill>
            <a:srgbClr val="111A27"/>
          </a:solidFill>
          <a:ln w="9525">
            <a:solidFill>
              <a:srgbClr val="2A36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11896" y="2907792"/>
            <a:ext cx="2926080" cy="914400"/>
          </a:xfrm>
          <a:prstGeom prst="rect">
            <a:avLst/>
          </a:prstGeom>
          <a:noFill/>
        </p:spPr>
        <p:txBody>
          <a:bodyPr wrap="square" anchor="t">
            <a:spAutoFit/>
          </a:bodyPr>
          <a:lstStyle/>
          <a:p>
            <a:pPr algn="l">
              <a:spcBef>
                <a:spcPts val="0"/>
              </a:spcBef>
              <a:spcAft>
                <a:spcPts val="600"/>
              </a:spcAft>
            </a:pPr>
            <a:r>
              <a:rPr sz="2400" b="1" i="0">
                <a:solidFill>
                  <a:srgbClr val="E8EEF5"/>
                </a:solidFill>
                <a:latin typeface="Avenir Next Condensed"/>
              </a:rPr>
              <a:t>ZYKLON</a:t>
            </a:r>
          </a:p>
          <a:p>
            <a:pPr algn="l">
              <a:spcBef>
                <a:spcPts val="200"/>
              </a:spcBef>
              <a:spcAft>
                <a:spcPts val="600"/>
              </a:spcAft>
            </a:pPr>
            <a:r>
              <a:rPr sz="1100" b="0" i="0" spc="200">
                <a:solidFill>
                  <a:srgbClr val="62C8DE"/>
                </a:solidFill>
                <a:latin typeface="Menlo"/>
              </a:rPr>
              <a:t>INDISCHER OZEAN</a:t>
            </a:r>
          </a:p>
        </p:txBody>
      </p:sp>
      <p:sp>
        <p:nvSpPr>
          <p:cNvPr id="11" name="TextBox 10"/>
          <p:cNvSpPr txBox="1"/>
          <p:nvPr/>
        </p:nvSpPr>
        <p:spPr>
          <a:xfrm>
            <a:off x="685800" y="4434840"/>
            <a:ext cx="3429000" cy="1005840"/>
          </a:xfrm>
          <a:prstGeom prst="rect">
            <a:avLst/>
          </a:prstGeom>
          <a:noFill/>
        </p:spPr>
        <p:txBody>
          <a:bodyPr wrap="square" anchor="t">
            <a:spAutoFit/>
          </a:bodyPr>
          <a:lstStyle/>
          <a:p>
            <a:pPr algn="l">
              <a:spcBef>
                <a:spcPts val="0"/>
              </a:spcBef>
              <a:spcAft>
                <a:spcPts val="600"/>
              </a:spcAft>
            </a:pPr>
            <a:r>
              <a:rPr sz="2600" b="1" i="0">
                <a:solidFill>
                  <a:srgbClr val="E8EEF5"/>
                </a:solidFill>
                <a:latin typeface="Menlo"/>
              </a:rPr>
              <a:t>JUNI — NOV.</a:t>
            </a:r>
          </a:p>
          <a:p>
            <a:pPr algn="l">
              <a:spcBef>
                <a:spcPts val="200"/>
              </a:spcBef>
              <a:spcAft>
                <a:spcPts val="600"/>
              </a:spcAft>
            </a:pPr>
            <a:r>
              <a:rPr sz="1000" b="0" i="0" spc="200">
                <a:solidFill>
                  <a:srgbClr val="6E7D90"/>
                </a:solidFill>
                <a:latin typeface="Menlo"/>
              </a:rPr>
              <a:t>HURRIKANSAISON</a:t>
            </a:r>
          </a:p>
        </p:txBody>
      </p:sp>
      <p:sp>
        <p:nvSpPr>
          <p:cNvPr id="12" name="TextBox 11"/>
          <p:cNvSpPr txBox="1"/>
          <p:nvPr/>
        </p:nvSpPr>
        <p:spPr>
          <a:xfrm>
            <a:off x="4370832" y="4434840"/>
            <a:ext cx="3429000" cy="1005840"/>
          </a:xfrm>
          <a:prstGeom prst="rect">
            <a:avLst/>
          </a:prstGeom>
          <a:noFill/>
        </p:spPr>
        <p:txBody>
          <a:bodyPr wrap="square" anchor="t">
            <a:spAutoFit/>
          </a:bodyPr>
          <a:lstStyle/>
          <a:p>
            <a:pPr algn="l">
              <a:spcBef>
                <a:spcPts val="0"/>
              </a:spcBef>
              <a:spcAft>
                <a:spcPts val="600"/>
              </a:spcAft>
            </a:pPr>
            <a:r>
              <a:rPr sz="2600" b="1" i="0">
                <a:solidFill>
                  <a:srgbClr val="E8EEF5"/>
                </a:solidFill>
                <a:latin typeface="Menlo"/>
              </a:rPr>
              <a:t>≈ 6 / JAHR</a:t>
            </a:r>
          </a:p>
          <a:p>
            <a:pPr algn="l">
              <a:spcBef>
                <a:spcPts val="200"/>
              </a:spcBef>
              <a:spcAft>
                <a:spcPts val="600"/>
              </a:spcAft>
            </a:pPr>
            <a:r>
              <a:rPr sz="1000" b="0" i="0" spc="200">
                <a:solidFill>
                  <a:srgbClr val="6E7D90"/>
                </a:solidFill>
                <a:latin typeface="Menlo"/>
              </a:rPr>
              <a:t>HURRIKANS IM MITTEL</a:t>
            </a:r>
          </a:p>
        </p:txBody>
      </p:sp>
      <p:sp>
        <p:nvSpPr>
          <p:cNvPr id="13" name="TextBox 12"/>
          <p:cNvSpPr txBox="1"/>
          <p:nvPr/>
        </p:nvSpPr>
        <p:spPr>
          <a:xfrm>
            <a:off x="8055864" y="4434840"/>
            <a:ext cx="3429000" cy="1005840"/>
          </a:xfrm>
          <a:prstGeom prst="rect">
            <a:avLst/>
          </a:prstGeom>
          <a:noFill/>
        </p:spPr>
        <p:txBody>
          <a:bodyPr wrap="square" anchor="t">
            <a:spAutoFit/>
          </a:bodyPr>
          <a:lstStyle/>
          <a:p>
            <a:pPr algn="l">
              <a:spcBef>
                <a:spcPts val="0"/>
              </a:spcBef>
              <a:spcAft>
                <a:spcPts val="600"/>
              </a:spcAft>
            </a:pPr>
            <a:r>
              <a:rPr sz="2600" b="1" i="0">
                <a:solidFill>
                  <a:srgbClr val="E8EEF5"/>
                </a:solidFill>
                <a:latin typeface="Menlo"/>
              </a:rPr>
              <a:t>&gt; 118 KM/H</a:t>
            </a:r>
          </a:p>
          <a:p>
            <a:pPr algn="l">
              <a:spcBef>
                <a:spcPts val="200"/>
              </a:spcBef>
              <a:spcAft>
                <a:spcPts val="600"/>
              </a:spcAft>
            </a:pPr>
            <a:r>
              <a:rPr sz="1000" b="0" i="0" spc="200">
                <a:solidFill>
                  <a:srgbClr val="6E7D90"/>
                </a:solidFill>
                <a:latin typeface="Menlo"/>
              </a:rPr>
              <a:t>AB DIESER WINDSTÄRKE</a:t>
            </a:r>
          </a:p>
        </p:txBody>
      </p:sp>
      <p:sp>
        <p:nvSpPr>
          <p:cNvPr id="14" name="TextBox 13"/>
          <p:cNvSpPr txBox="1"/>
          <p:nvPr/>
        </p:nvSpPr>
        <p:spPr>
          <a:xfrm>
            <a:off x="685800" y="6035040"/>
            <a:ext cx="7315200" cy="365760"/>
          </a:xfrm>
          <a:prstGeom prst="rect">
            <a:avLst/>
          </a:prstGeom>
          <a:noFill/>
        </p:spPr>
        <p:txBody>
          <a:bodyPr wrap="square" anchor="t">
            <a:spAutoFit/>
          </a:bodyPr>
          <a:lstStyle/>
          <a:p>
            <a:pPr algn="l">
              <a:spcBef>
                <a:spcPts val="0"/>
              </a:spcBef>
              <a:spcAft>
                <a:spcPts val="600"/>
              </a:spcAft>
            </a:pPr>
            <a:r>
              <a:rPr sz="900" b="0" i="0" spc="150">
                <a:solidFill>
                  <a:srgbClr val="6E7D90"/>
                </a:solidFill>
                <a:latin typeface="Menlo"/>
              </a:rPr>
              <a:t>QUELLE: SCHULBUCH S. 112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B1119"/>
        </a:solidFill>
        <a:effectLst/>
      </p:bgPr>
    </p:bg>
    <p:spTree>
      <p:nvGrpSpPr>
        <p:cNvPr id="1" name=""/>
        <p:cNvGrpSpPr/>
        <p:nvPr/>
      </p:nvGrpSpPr>
      <p:grpSpPr/>
      <p:sp>
        <p:nvSpPr>
          <p:cNvPr id="2" name="TextBox 1"/>
          <p:cNvSpPr txBox="1"/>
          <p:nvPr/>
        </p:nvSpPr>
        <p:spPr>
          <a:xfrm>
            <a:off x="685800" y="502920"/>
            <a:ext cx="10789920" cy="365760"/>
          </a:xfrm>
          <a:prstGeom prst="rect">
            <a:avLst/>
          </a:prstGeom>
          <a:noFill/>
        </p:spPr>
        <p:txBody>
          <a:bodyPr wrap="square" anchor="t">
            <a:spAutoFit/>
          </a:bodyPr>
          <a:lstStyle/>
          <a:p>
            <a:pPr algn="l">
              <a:spcBef>
                <a:spcPts val="0"/>
              </a:spcBef>
              <a:spcAft>
                <a:spcPts val="600"/>
              </a:spcAft>
            </a:pPr>
            <a:r>
              <a:rPr sz="1200" b="0" i="0" spc="300">
                <a:solidFill>
                  <a:srgbClr val="62C8DE"/>
                </a:solidFill>
                <a:latin typeface="Menlo"/>
              </a:rPr>
              <a:t>KAPITEL 02 · DIE GEBURT DES STURMS</a:t>
            </a:r>
          </a:p>
        </p:txBody>
      </p:sp>
      <p:sp>
        <p:nvSpPr>
          <p:cNvPr id="3" name="TextBox 2"/>
          <p:cNvSpPr txBox="1"/>
          <p:nvPr/>
        </p:nvSpPr>
        <p:spPr>
          <a:xfrm>
            <a:off x="658368" y="868680"/>
            <a:ext cx="10881360" cy="1463040"/>
          </a:xfrm>
          <a:prstGeom prst="rect">
            <a:avLst/>
          </a:prstGeom>
          <a:noFill/>
        </p:spPr>
        <p:txBody>
          <a:bodyPr wrap="square" anchor="t">
            <a:spAutoFit/>
          </a:bodyPr>
          <a:lstStyle/>
          <a:p>
            <a:pPr algn="l">
              <a:lnSpc>
                <a:spcPct val="98000"/>
              </a:lnSpc>
              <a:spcBef>
                <a:spcPts val="0"/>
              </a:spcBef>
              <a:spcAft>
                <a:spcPts val="600"/>
              </a:spcAft>
            </a:pPr>
            <a:r>
              <a:rPr sz="4400" b="1" i="0">
                <a:solidFill>
                  <a:srgbClr val="E8EEF5"/>
                </a:solidFill>
                <a:latin typeface="Avenir Next Condensed"/>
              </a:rPr>
              <a:t>REZEPT FÜR EIN MONSTER</a:t>
            </a:r>
          </a:p>
        </p:txBody>
      </p:sp>
      <p:sp>
        <p:nvSpPr>
          <p:cNvPr id="4" name="Rounded Rectangle 3"/>
          <p:cNvSpPr/>
          <p:nvPr/>
        </p:nvSpPr>
        <p:spPr>
          <a:xfrm>
            <a:off x="685800" y="1874519"/>
            <a:ext cx="10817352" cy="1298448"/>
          </a:xfrm>
          <a:prstGeom prst="roundRect">
            <a:avLst>
              <a:gd name="adj" fmla="val 4500"/>
            </a:avLst>
          </a:prstGeom>
          <a:solidFill>
            <a:srgbClr val="111A27"/>
          </a:solidFill>
          <a:ln w="9525">
            <a:solidFill>
              <a:srgbClr val="2A36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85800" y="1965960"/>
            <a:ext cx="41148" cy="1115568"/>
          </a:xfrm>
          <a:prstGeom prst="rect">
            <a:avLst/>
          </a:prstGeom>
          <a:solidFill>
            <a:srgbClr val="62C8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2020824"/>
            <a:ext cx="822960" cy="1005840"/>
          </a:xfrm>
          <a:prstGeom prst="rect">
            <a:avLst/>
          </a:prstGeom>
          <a:noFill/>
        </p:spPr>
        <p:txBody>
          <a:bodyPr wrap="square" anchor="ctr">
            <a:spAutoFit/>
          </a:bodyPr>
          <a:lstStyle/>
          <a:p>
            <a:pPr algn="l">
              <a:spcBef>
                <a:spcPts val="0"/>
              </a:spcBef>
              <a:spcAft>
                <a:spcPts val="600"/>
              </a:spcAft>
            </a:pPr>
            <a:r>
              <a:rPr sz="2800" b="1" i="0">
                <a:solidFill>
                  <a:srgbClr val="62C8DE"/>
                </a:solidFill>
                <a:latin typeface="Menlo"/>
              </a:rPr>
              <a:t>01</a:t>
            </a:r>
          </a:p>
        </p:txBody>
      </p:sp>
      <p:sp>
        <p:nvSpPr>
          <p:cNvPr id="7" name="TextBox 6"/>
          <p:cNvSpPr txBox="1"/>
          <p:nvPr/>
        </p:nvSpPr>
        <p:spPr>
          <a:xfrm>
            <a:off x="1828800" y="2002536"/>
            <a:ext cx="9418320" cy="1097280"/>
          </a:xfrm>
          <a:prstGeom prst="rect">
            <a:avLst/>
          </a:prstGeom>
          <a:noFill/>
        </p:spPr>
        <p:txBody>
          <a:bodyPr wrap="square" anchor="t">
            <a:spAutoFit/>
          </a:bodyPr>
          <a:lstStyle/>
          <a:p>
            <a:pPr algn="l">
              <a:spcBef>
                <a:spcPts val="0"/>
              </a:spcBef>
              <a:spcAft>
                <a:spcPts val="100"/>
              </a:spcAft>
            </a:pPr>
            <a:r>
              <a:rPr sz="1000" b="0" i="0" spc="250">
                <a:solidFill>
                  <a:srgbClr val="62C8DE"/>
                </a:solidFill>
                <a:latin typeface="Menlo"/>
              </a:rPr>
              <a:t>TREIBSTOFF   </a:t>
            </a:r>
          </a:p>
          <a:p>
            <a:pPr algn="l">
              <a:spcBef>
                <a:spcPts val="0"/>
              </a:spcBef>
              <a:spcAft>
                <a:spcPts val="200"/>
              </a:spcAft>
            </a:pPr>
            <a:r>
              <a:rPr sz="1700" b="1" i="0">
                <a:solidFill>
                  <a:srgbClr val="E8EEF5"/>
                </a:solidFill>
                <a:latin typeface="Helvetica Neue"/>
              </a:rPr>
              <a:t>Warmes Meer — mind. 26 °C</a:t>
            </a:r>
          </a:p>
          <a:p>
            <a:pPr algn="l">
              <a:lnSpc>
                <a:spcPct val="110000"/>
              </a:lnSpc>
              <a:spcBef>
                <a:spcPts val="0"/>
              </a:spcBef>
              <a:spcAft>
                <a:spcPts val="600"/>
              </a:spcAft>
            </a:pPr>
            <a:r>
              <a:rPr sz="1350" b="0" i="0">
                <a:solidFill>
                  <a:srgbClr val="9AA8BA"/>
                </a:solidFill>
                <a:latin typeface="Helvetica Neue"/>
              </a:rPr>
              <a:t>Meeresoberfläche mind. 26 °C warm — bis in etwa 50 Meter Tiefe. Nur dann steht genug Energie bereit.</a:t>
            </a:r>
          </a:p>
        </p:txBody>
      </p:sp>
      <p:sp>
        <p:nvSpPr>
          <p:cNvPr id="8" name="Rounded Rectangle 7"/>
          <p:cNvSpPr/>
          <p:nvPr/>
        </p:nvSpPr>
        <p:spPr>
          <a:xfrm>
            <a:off x="685800" y="3355848"/>
            <a:ext cx="10817352" cy="1298448"/>
          </a:xfrm>
          <a:prstGeom prst="roundRect">
            <a:avLst>
              <a:gd name="adj" fmla="val 4500"/>
            </a:avLst>
          </a:prstGeom>
          <a:solidFill>
            <a:srgbClr val="111A27"/>
          </a:solidFill>
          <a:ln w="9525">
            <a:solidFill>
              <a:srgbClr val="2A36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85800" y="3447288"/>
            <a:ext cx="41148" cy="1115568"/>
          </a:xfrm>
          <a:prstGeom prst="rect">
            <a:avLst/>
          </a:prstGeom>
          <a:solidFill>
            <a:srgbClr val="62C8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3502152"/>
            <a:ext cx="822960" cy="1005840"/>
          </a:xfrm>
          <a:prstGeom prst="rect">
            <a:avLst/>
          </a:prstGeom>
          <a:noFill/>
        </p:spPr>
        <p:txBody>
          <a:bodyPr wrap="square" anchor="ctr">
            <a:spAutoFit/>
          </a:bodyPr>
          <a:lstStyle/>
          <a:p>
            <a:pPr algn="l">
              <a:spcBef>
                <a:spcPts val="0"/>
              </a:spcBef>
              <a:spcAft>
                <a:spcPts val="600"/>
              </a:spcAft>
            </a:pPr>
            <a:r>
              <a:rPr sz="2800" b="1" i="0">
                <a:solidFill>
                  <a:srgbClr val="62C8DE"/>
                </a:solidFill>
                <a:latin typeface="Menlo"/>
              </a:rPr>
              <a:t>02</a:t>
            </a:r>
          </a:p>
        </p:txBody>
      </p:sp>
      <p:sp>
        <p:nvSpPr>
          <p:cNvPr id="11" name="TextBox 10"/>
          <p:cNvSpPr txBox="1"/>
          <p:nvPr/>
        </p:nvSpPr>
        <p:spPr>
          <a:xfrm>
            <a:off x="1828800" y="3483864"/>
            <a:ext cx="9418320" cy="1097280"/>
          </a:xfrm>
          <a:prstGeom prst="rect">
            <a:avLst/>
          </a:prstGeom>
          <a:noFill/>
        </p:spPr>
        <p:txBody>
          <a:bodyPr wrap="square" anchor="t">
            <a:spAutoFit/>
          </a:bodyPr>
          <a:lstStyle/>
          <a:p>
            <a:pPr algn="l">
              <a:spcBef>
                <a:spcPts val="0"/>
              </a:spcBef>
              <a:spcAft>
                <a:spcPts val="100"/>
              </a:spcAft>
            </a:pPr>
            <a:r>
              <a:rPr sz="1000" b="0" i="0" spc="250">
                <a:solidFill>
                  <a:srgbClr val="62C8DE"/>
                </a:solidFill>
                <a:latin typeface="Menlo"/>
              </a:rPr>
              <a:t>VERDUNSTUNG   </a:t>
            </a:r>
          </a:p>
          <a:p>
            <a:pPr algn="l">
              <a:spcBef>
                <a:spcPts val="0"/>
              </a:spcBef>
              <a:spcAft>
                <a:spcPts val="200"/>
              </a:spcAft>
            </a:pPr>
            <a:r>
              <a:rPr sz="1700" b="1" i="0">
                <a:solidFill>
                  <a:srgbClr val="E8EEF5"/>
                </a:solidFill>
                <a:latin typeface="Helvetica Neue"/>
              </a:rPr>
              <a:t>Der Ozean verdampft</a:t>
            </a:r>
          </a:p>
          <a:p>
            <a:pPr algn="l">
              <a:lnSpc>
                <a:spcPct val="110000"/>
              </a:lnSpc>
              <a:spcBef>
                <a:spcPts val="0"/>
              </a:spcBef>
              <a:spcAft>
                <a:spcPts val="600"/>
              </a:spcAft>
            </a:pPr>
            <a:r>
              <a:rPr sz="1350" b="0" i="0">
                <a:solidFill>
                  <a:srgbClr val="9AA8BA"/>
                </a:solidFill>
                <a:latin typeface="Helvetica Neue"/>
              </a:rPr>
              <a:t>Intensive Sonneneinstrahlung lässt riesige Wassermengen verdunsten. Feuchtwarme Luft steigt zügig auf.</a:t>
            </a:r>
          </a:p>
        </p:txBody>
      </p:sp>
      <p:sp>
        <p:nvSpPr>
          <p:cNvPr id="12" name="Rounded Rectangle 11"/>
          <p:cNvSpPr/>
          <p:nvPr/>
        </p:nvSpPr>
        <p:spPr>
          <a:xfrm>
            <a:off x="685800" y="4837176"/>
            <a:ext cx="10817352" cy="1298448"/>
          </a:xfrm>
          <a:prstGeom prst="roundRect">
            <a:avLst>
              <a:gd name="adj" fmla="val 4500"/>
            </a:avLst>
          </a:prstGeom>
          <a:solidFill>
            <a:srgbClr val="111A27"/>
          </a:solidFill>
          <a:ln w="9525">
            <a:solidFill>
              <a:srgbClr val="2A36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85800" y="4928616"/>
            <a:ext cx="41148" cy="1115568"/>
          </a:xfrm>
          <a:prstGeom prst="rect">
            <a:avLst/>
          </a:prstGeom>
          <a:solidFill>
            <a:srgbClr val="62C8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0120" y="4983480"/>
            <a:ext cx="822960" cy="1005840"/>
          </a:xfrm>
          <a:prstGeom prst="rect">
            <a:avLst/>
          </a:prstGeom>
          <a:noFill/>
        </p:spPr>
        <p:txBody>
          <a:bodyPr wrap="square" anchor="ctr">
            <a:spAutoFit/>
          </a:bodyPr>
          <a:lstStyle/>
          <a:p>
            <a:pPr algn="l">
              <a:spcBef>
                <a:spcPts val="0"/>
              </a:spcBef>
              <a:spcAft>
                <a:spcPts val="600"/>
              </a:spcAft>
            </a:pPr>
            <a:r>
              <a:rPr sz="2800" b="1" i="0">
                <a:solidFill>
                  <a:srgbClr val="62C8DE"/>
                </a:solidFill>
                <a:latin typeface="Menlo"/>
              </a:rPr>
              <a:t>03</a:t>
            </a:r>
          </a:p>
        </p:txBody>
      </p:sp>
      <p:sp>
        <p:nvSpPr>
          <p:cNvPr id="15" name="TextBox 14"/>
          <p:cNvSpPr txBox="1"/>
          <p:nvPr/>
        </p:nvSpPr>
        <p:spPr>
          <a:xfrm>
            <a:off x="1828800" y="4965192"/>
            <a:ext cx="9418320" cy="1097280"/>
          </a:xfrm>
          <a:prstGeom prst="rect">
            <a:avLst/>
          </a:prstGeom>
          <a:noFill/>
        </p:spPr>
        <p:txBody>
          <a:bodyPr wrap="square" anchor="t">
            <a:spAutoFit/>
          </a:bodyPr>
          <a:lstStyle/>
          <a:p>
            <a:pPr algn="l">
              <a:spcBef>
                <a:spcPts val="0"/>
              </a:spcBef>
              <a:spcAft>
                <a:spcPts val="100"/>
              </a:spcAft>
            </a:pPr>
            <a:r>
              <a:rPr sz="1000" b="0" i="0" spc="250">
                <a:solidFill>
                  <a:srgbClr val="62C8DE"/>
                </a:solidFill>
                <a:latin typeface="Menlo"/>
              </a:rPr>
              <a:t>KONDENSATION   </a:t>
            </a:r>
          </a:p>
          <a:p>
            <a:pPr algn="l">
              <a:spcBef>
                <a:spcPts val="0"/>
              </a:spcBef>
              <a:spcAft>
                <a:spcPts val="200"/>
              </a:spcAft>
            </a:pPr>
            <a:r>
              <a:rPr sz="1700" b="1" i="0">
                <a:solidFill>
                  <a:srgbClr val="E8EEF5"/>
                </a:solidFill>
                <a:latin typeface="Helvetica Neue"/>
              </a:rPr>
              <a:t>Wolken — und neue Wärme</a:t>
            </a:r>
          </a:p>
          <a:p>
            <a:pPr algn="l">
              <a:lnSpc>
                <a:spcPct val="110000"/>
              </a:lnSpc>
              <a:spcBef>
                <a:spcPts val="0"/>
              </a:spcBef>
              <a:spcAft>
                <a:spcPts val="600"/>
              </a:spcAft>
            </a:pPr>
            <a:r>
              <a:rPr sz="1350" b="0" i="0">
                <a:solidFill>
                  <a:srgbClr val="9AA8BA"/>
                </a:solidFill>
                <a:latin typeface="Helvetica Neue"/>
              </a:rPr>
              <a:t>In der Höhe kondensiert der Wasserdampf. Dabei wird Wärme frei, die den Aufstieg weiter antreibt — die Luft steigt konvektiv nach oben.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B1119"/>
        </a:solidFill>
        <a:effectLst/>
      </p:bgPr>
    </p:bg>
    <p:spTree>
      <p:nvGrpSpPr>
        <p:cNvPr id="1" name=""/>
        <p:cNvGrpSpPr/>
        <p:nvPr/>
      </p:nvGrpSpPr>
      <p:grpSpPr/>
      <p:sp>
        <p:nvSpPr>
          <p:cNvPr id="2" name="TextBox 1"/>
          <p:cNvSpPr txBox="1"/>
          <p:nvPr/>
        </p:nvSpPr>
        <p:spPr>
          <a:xfrm>
            <a:off x="685800" y="502920"/>
            <a:ext cx="10789920" cy="365760"/>
          </a:xfrm>
          <a:prstGeom prst="rect">
            <a:avLst/>
          </a:prstGeom>
          <a:noFill/>
        </p:spPr>
        <p:txBody>
          <a:bodyPr wrap="square" anchor="t">
            <a:spAutoFit/>
          </a:bodyPr>
          <a:lstStyle/>
          <a:p>
            <a:pPr algn="l">
              <a:spcBef>
                <a:spcPts val="0"/>
              </a:spcBef>
              <a:spcAft>
                <a:spcPts val="600"/>
              </a:spcAft>
            </a:pPr>
            <a:r>
              <a:rPr sz="1200" b="0" i="0" spc="300">
                <a:solidFill>
                  <a:srgbClr val="62C8DE"/>
                </a:solidFill>
                <a:latin typeface="Menlo"/>
              </a:rPr>
              <a:t>KAPITEL 02 · DIE GEBURT DES STURMS</a:t>
            </a:r>
          </a:p>
        </p:txBody>
      </p:sp>
      <p:sp>
        <p:nvSpPr>
          <p:cNvPr id="3" name="TextBox 2"/>
          <p:cNvSpPr txBox="1"/>
          <p:nvPr/>
        </p:nvSpPr>
        <p:spPr>
          <a:xfrm>
            <a:off x="658368" y="868680"/>
            <a:ext cx="10881360" cy="1463040"/>
          </a:xfrm>
          <a:prstGeom prst="rect">
            <a:avLst/>
          </a:prstGeom>
          <a:noFill/>
        </p:spPr>
        <p:txBody>
          <a:bodyPr wrap="square" anchor="t">
            <a:spAutoFit/>
          </a:bodyPr>
          <a:lstStyle/>
          <a:p>
            <a:pPr algn="l">
              <a:lnSpc>
                <a:spcPct val="98000"/>
              </a:lnSpc>
              <a:spcBef>
                <a:spcPts val="0"/>
              </a:spcBef>
              <a:spcAft>
                <a:spcPts val="600"/>
              </a:spcAft>
            </a:pPr>
            <a:r>
              <a:rPr sz="4400" b="1" i="0">
                <a:solidFill>
                  <a:srgbClr val="E8EEF5"/>
                </a:solidFill>
                <a:latin typeface="Avenir Next Condensed"/>
              </a:rPr>
              <a:t>REZEPT FÜR EIN MONSTER  —  TEIL 2</a:t>
            </a:r>
          </a:p>
        </p:txBody>
      </p:sp>
      <p:sp>
        <p:nvSpPr>
          <p:cNvPr id="4" name="Rounded Rectangle 3"/>
          <p:cNvSpPr/>
          <p:nvPr/>
        </p:nvSpPr>
        <p:spPr>
          <a:xfrm>
            <a:off x="685800" y="1874519"/>
            <a:ext cx="10817352" cy="1298448"/>
          </a:xfrm>
          <a:prstGeom prst="roundRect">
            <a:avLst>
              <a:gd name="adj" fmla="val 4500"/>
            </a:avLst>
          </a:prstGeom>
          <a:solidFill>
            <a:srgbClr val="111A27"/>
          </a:solidFill>
          <a:ln w="9525">
            <a:solidFill>
              <a:srgbClr val="2A36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85800" y="1965960"/>
            <a:ext cx="41148" cy="1115568"/>
          </a:xfrm>
          <a:prstGeom prst="rect">
            <a:avLst/>
          </a:prstGeom>
          <a:solidFill>
            <a:srgbClr val="62C8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2020824"/>
            <a:ext cx="822960" cy="1005840"/>
          </a:xfrm>
          <a:prstGeom prst="rect">
            <a:avLst/>
          </a:prstGeom>
          <a:noFill/>
        </p:spPr>
        <p:txBody>
          <a:bodyPr wrap="square" anchor="ctr">
            <a:spAutoFit/>
          </a:bodyPr>
          <a:lstStyle/>
          <a:p>
            <a:pPr algn="l">
              <a:spcBef>
                <a:spcPts val="0"/>
              </a:spcBef>
              <a:spcAft>
                <a:spcPts val="600"/>
              </a:spcAft>
            </a:pPr>
            <a:r>
              <a:rPr sz="2800" b="1" i="0">
                <a:solidFill>
                  <a:srgbClr val="62C8DE"/>
                </a:solidFill>
                <a:latin typeface="Menlo"/>
              </a:rPr>
              <a:t>04</a:t>
            </a:r>
          </a:p>
        </p:txBody>
      </p:sp>
      <p:sp>
        <p:nvSpPr>
          <p:cNvPr id="7" name="TextBox 6"/>
          <p:cNvSpPr txBox="1"/>
          <p:nvPr/>
        </p:nvSpPr>
        <p:spPr>
          <a:xfrm>
            <a:off x="1828800" y="2002536"/>
            <a:ext cx="9418320" cy="1097280"/>
          </a:xfrm>
          <a:prstGeom prst="rect">
            <a:avLst/>
          </a:prstGeom>
          <a:noFill/>
        </p:spPr>
        <p:txBody>
          <a:bodyPr wrap="square" anchor="t">
            <a:spAutoFit/>
          </a:bodyPr>
          <a:lstStyle/>
          <a:p>
            <a:pPr algn="l">
              <a:spcBef>
                <a:spcPts val="0"/>
              </a:spcBef>
              <a:spcAft>
                <a:spcPts val="100"/>
              </a:spcAft>
            </a:pPr>
            <a:r>
              <a:rPr sz="1000" b="0" i="0" spc="250">
                <a:solidFill>
                  <a:srgbClr val="62C8DE"/>
                </a:solidFill>
                <a:latin typeface="Menlo"/>
              </a:rPr>
              <a:t>SOG   </a:t>
            </a:r>
          </a:p>
          <a:p>
            <a:pPr algn="l">
              <a:spcBef>
                <a:spcPts val="0"/>
              </a:spcBef>
              <a:spcAft>
                <a:spcPts val="200"/>
              </a:spcAft>
            </a:pPr>
            <a:r>
              <a:rPr sz="1700" b="1" i="0">
                <a:solidFill>
                  <a:srgbClr val="E8EEF5"/>
                </a:solidFill>
                <a:latin typeface="Helvetica Neue"/>
              </a:rPr>
              <a:t>Unterdruck saugt Luft an</a:t>
            </a:r>
          </a:p>
          <a:p>
            <a:pPr algn="l">
              <a:lnSpc>
                <a:spcPct val="110000"/>
              </a:lnSpc>
              <a:spcBef>
                <a:spcPts val="0"/>
              </a:spcBef>
              <a:spcAft>
                <a:spcPts val="600"/>
              </a:spcAft>
            </a:pPr>
            <a:r>
              <a:rPr sz="1350" b="0" i="0">
                <a:solidFill>
                  <a:srgbClr val="9AA8BA"/>
                </a:solidFill>
                <a:latin typeface="Helvetica Neue"/>
              </a:rPr>
              <a:t>Durch das schnelle Aufsteigen entsteht am Meer Unterdruck — aus der Umgebung strömen neue, feuchte Luftmassen nach.</a:t>
            </a:r>
          </a:p>
        </p:txBody>
      </p:sp>
      <p:sp>
        <p:nvSpPr>
          <p:cNvPr id="8" name="Rounded Rectangle 7"/>
          <p:cNvSpPr/>
          <p:nvPr/>
        </p:nvSpPr>
        <p:spPr>
          <a:xfrm>
            <a:off x="685800" y="3355848"/>
            <a:ext cx="10817352" cy="1298448"/>
          </a:xfrm>
          <a:prstGeom prst="roundRect">
            <a:avLst>
              <a:gd name="adj" fmla="val 4500"/>
            </a:avLst>
          </a:prstGeom>
          <a:solidFill>
            <a:srgbClr val="111A27"/>
          </a:solidFill>
          <a:ln w="9525">
            <a:solidFill>
              <a:srgbClr val="2A36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85800" y="3447288"/>
            <a:ext cx="41148" cy="1115568"/>
          </a:xfrm>
          <a:prstGeom prst="rect">
            <a:avLst/>
          </a:prstGeom>
          <a:solidFill>
            <a:srgbClr val="62C8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3502152"/>
            <a:ext cx="822960" cy="1005840"/>
          </a:xfrm>
          <a:prstGeom prst="rect">
            <a:avLst/>
          </a:prstGeom>
          <a:noFill/>
        </p:spPr>
        <p:txBody>
          <a:bodyPr wrap="square" anchor="ctr">
            <a:spAutoFit/>
          </a:bodyPr>
          <a:lstStyle/>
          <a:p>
            <a:pPr algn="l">
              <a:spcBef>
                <a:spcPts val="0"/>
              </a:spcBef>
              <a:spcAft>
                <a:spcPts val="600"/>
              </a:spcAft>
            </a:pPr>
            <a:r>
              <a:rPr sz="2800" b="1" i="0">
                <a:solidFill>
                  <a:srgbClr val="62C8DE"/>
                </a:solidFill>
                <a:latin typeface="Menlo"/>
              </a:rPr>
              <a:t>05</a:t>
            </a:r>
          </a:p>
        </p:txBody>
      </p:sp>
      <p:sp>
        <p:nvSpPr>
          <p:cNvPr id="11" name="TextBox 10"/>
          <p:cNvSpPr txBox="1"/>
          <p:nvPr/>
        </p:nvSpPr>
        <p:spPr>
          <a:xfrm>
            <a:off x="1828800" y="3483864"/>
            <a:ext cx="9418320" cy="1097280"/>
          </a:xfrm>
          <a:prstGeom prst="rect">
            <a:avLst/>
          </a:prstGeom>
          <a:noFill/>
        </p:spPr>
        <p:txBody>
          <a:bodyPr wrap="square" anchor="t">
            <a:spAutoFit/>
          </a:bodyPr>
          <a:lstStyle/>
          <a:p>
            <a:pPr algn="l">
              <a:spcBef>
                <a:spcPts val="0"/>
              </a:spcBef>
              <a:spcAft>
                <a:spcPts val="100"/>
              </a:spcAft>
            </a:pPr>
            <a:r>
              <a:rPr sz="1000" b="0" i="0" spc="250">
                <a:solidFill>
                  <a:srgbClr val="62C8DE"/>
                </a:solidFill>
                <a:latin typeface="Menlo"/>
              </a:rPr>
              <a:t>ROTATION   </a:t>
            </a:r>
          </a:p>
          <a:p>
            <a:pPr algn="l">
              <a:spcBef>
                <a:spcPts val="0"/>
              </a:spcBef>
              <a:spcAft>
                <a:spcPts val="200"/>
              </a:spcAft>
            </a:pPr>
            <a:r>
              <a:rPr sz="1700" b="1" i="0">
                <a:solidFill>
                  <a:srgbClr val="E8EEF5"/>
                </a:solidFill>
                <a:latin typeface="Helvetica Neue"/>
              </a:rPr>
              <a:t>Der Corioliseffekt dreht auf</a:t>
            </a:r>
          </a:p>
          <a:p>
            <a:pPr algn="l">
              <a:lnSpc>
                <a:spcPct val="110000"/>
              </a:lnSpc>
              <a:spcBef>
                <a:spcPts val="0"/>
              </a:spcBef>
              <a:spcAft>
                <a:spcPts val="600"/>
              </a:spcAft>
            </a:pPr>
            <a:r>
              <a:rPr sz="1350" b="0" i="0">
                <a:solidFill>
                  <a:srgbClr val="9AA8BA"/>
                </a:solidFill>
                <a:latin typeface="Helvetica Neue"/>
              </a:rPr>
              <a:t>Ab etwa 5–8° Abstand vom Äquator versetzt der Corioliseffekt die Luftmassen in Rotation: Ein Wirbel entsteht.</a:t>
            </a:r>
          </a:p>
        </p:txBody>
      </p:sp>
      <p:sp>
        <p:nvSpPr>
          <p:cNvPr id="12" name="Rounded Rectangle 11"/>
          <p:cNvSpPr/>
          <p:nvPr/>
        </p:nvSpPr>
        <p:spPr>
          <a:xfrm>
            <a:off x="685800" y="4837176"/>
            <a:ext cx="10817352" cy="1298448"/>
          </a:xfrm>
          <a:prstGeom prst="roundRect">
            <a:avLst>
              <a:gd name="adj" fmla="val 4500"/>
            </a:avLst>
          </a:prstGeom>
          <a:solidFill>
            <a:srgbClr val="111A27"/>
          </a:solidFill>
          <a:ln w="9525">
            <a:solidFill>
              <a:srgbClr val="2A36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85800" y="4928616"/>
            <a:ext cx="41148" cy="1115568"/>
          </a:xfrm>
          <a:prstGeom prst="rect">
            <a:avLst/>
          </a:prstGeom>
          <a:solidFill>
            <a:srgbClr val="62C8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0120" y="4983480"/>
            <a:ext cx="822960" cy="1005840"/>
          </a:xfrm>
          <a:prstGeom prst="rect">
            <a:avLst/>
          </a:prstGeom>
          <a:noFill/>
        </p:spPr>
        <p:txBody>
          <a:bodyPr wrap="square" anchor="ctr">
            <a:spAutoFit/>
          </a:bodyPr>
          <a:lstStyle/>
          <a:p>
            <a:pPr algn="l">
              <a:spcBef>
                <a:spcPts val="0"/>
              </a:spcBef>
              <a:spcAft>
                <a:spcPts val="600"/>
              </a:spcAft>
            </a:pPr>
            <a:r>
              <a:rPr sz="2800" b="1" i="0">
                <a:solidFill>
                  <a:srgbClr val="62C8DE"/>
                </a:solidFill>
                <a:latin typeface="Menlo"/>
              </a:rPr>
              <a:t>06</a:t>
            </a:r>
          </a:p>
        </p:txBody>
      </p:sp>
      <p:sp>
        <p:nvSpPr>
          <p:cNvPr id="15" name="TextBox 14"/>
          <p:cNvSpPr txBox="1"/>
          <p:nvPr/>
        </p:nvSpPr>
        <p:spPr>
          <a:xfrm>
            <a:off x="1828800" y="4965192"/>
            <a:ext cx="9418320" cy="1097280"/>
          </a:xfrm>
          <a:prstGeom prst="rect">
            <a:avLst/>
          </a:prstGeom>
          <a:noFill/>
        </p:spPr>
        <p:txBody>
          <a:bodyPr wrap="square" anchor="t">
            <a:spAutoFit/>
          </a:bodyPr>
          <a:lstStyle/>
          <a:p>
            <a:pPr algn="l">
              <a:spcBef>
                <a:spcPts val="0"/>
              </a:spcBef>
              <a:spcAft>
                <a:spcPts val="100"/>
              </a:spcAft>
            </a:pPr>
            <a:r>
              <a:rPr sz="1000" b="0" i="0" spc="250">
                <a:solidFill>
                  <a:srgbClr val="62C8DE"/>
                </a:solidFill>
                <a:latin typeface="Menlo"/>
              </a:rPr>
              <a:t>DAS AUGE   </a:t>
            </a:r>
          </a:p>
          <a:p>
            <a:pPr algn="l">
              <a:spcBef>
                <a:spcPts val="0"/>
              </a:spcBef>
              <a:spcAft>
                <a:spcPts val="200"/>
              </a:spcAft>
            </a:pPr>
            <a:r>
              <a:rPr sz="1700" b="1" i="0">
                <a:solidFill>
                  <a:srgbClr val="E8EEF5"/>
                </a:solidFill>
                <a:latin typeface="Helvetica Neue"/>
              </a:rPr>
              <a:t>Ruhe im Zentrum</a:t>
            </a:r>
          </a:p>
          <a:p>
            <a:pPr algn="l">
              <a:lnSpc>
                <a:spcPct val="110000"/>
              </a:lnSpc>
              <a:spcBef>
                <a:spcPts val="0"/>
              </a:spcBef>
              <a:spcAft>
                <a:spcPts val="600"/>
              </a:spcAft>
            </a:pPr>
            <a:r>
              <a:rPr sz="1350" b="0" i="0">
                <a:solidFill>
                  <a:srgbClr val="9AA8BA"/>
                </a:solidFill>
                <a:latin typeface="Helvetica Neue"/>
              </a:rPr>
              <a:t>In der Mitte sinkt abgekühlte Luft ab und bildet das wolkenlose Auge. Der Wirbel erreicht bis zu 1000 km Durchmesser.</a:t>
            </a:r>
          </a:p>
        </p:txBody>
      </p:sp>
      <p:sp>
        <p:nvSpPr>
          <p:cNvPr id="16" name="TextBox 15"/>
          <p:cNvSpPr txBox="1"/>
          <p:nvPr/>
        </p:nvSpPr>
        <p:spPr>
          <a:xfrm>
            <a:off x="685800" y="6355080"/>
            <a:ext cx="10789920" cy="411480"/>
          </a:xfrm>
          <a:prstGeom prst="rect">
            <a:avLst/>
          </a:prstGeom>
          <a:noFill/>
        </p:spPr>
        <p:txBody>
          <a:bodyPr wrap="square" anchor="t">
            <a:spAutoFit/>
          </a:bodyPr>
          <a:lstStyle/>
          <a:p>
            <a:pPr algn="l">
              <a:spcBef>
                <a:spcPts val="0"/>
              </a:spcBef>
              <a:spcAft>
                <a:spcPts val="600"/>
              </a:spcAft>
            </a:pPr>
            <a:r>
              <a:rPr sz="1300" b="0" i="1">
                <a:solidFill>
                  <a:srgbClr val="9AA8BA"/>
                </a:solidFill>
                <a:latin typeface="Helvetica Neue"/>
              </a:rPr>
              <a:t>Über Land fehlt der Wasserdampf-Nachschub: Der Hurrikan schwächt sich ab und „stirbt“.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1119"/>
        </a:solidFill>
        <a:effectLst/>
      </p:bgPr>
    </p:bg>
    <p:spTree>
      <p:nvGrpSpPr>
        <p:cNvPr id="1" name=""/>
        <p:cNvGrpSpPr/>
        <p:nvPr/>
      </p:nvGrpSpPr>
      <p:grpSpPr/>
      <p:sp>
        <p:nvSpPr>
          <p:cNvPr id="2" name="TextBox 1"/>
          <p:cNvSpPr txBox="1"/>
          <p:nvPr/>
        </p:nvSpPr>
        <p:spPr>
          <a:xfrm>
            <a:off x="685800" y="502920"/>
            <a:ext cx="10789920" cy="365760"/>
          </a:xfrm>
          <a:prstGeom prst="rect">
            <a:avLst/>
          </a:prstGeom>
          <a:noFill/>
        </p:spPr>
        <p:txBody>
          <a:bodyPr wrap="square" anchor="t">
            <a:spAutoFit/>
          </a:bodyPr>
          <a:lstStyle/>
          <a:p>
            <a:pPr algn="l">
              <a:spcBef>
                <a:spcPts val="0"/>
              </a:spcBef>
              <a:spcAft>
                <a:spcPts val="600"/>
              </a:spcAft>
            </a:pPr>
            <a:r>
              <a:rPr sz="1200" b="0" i="0" spc="300">
                <a:solidFill>
                  <a:srgbClr val="62C8DE"/>
                </a:solidFill>
                <a:latin typeface="Menlo"/>
              </a:rPr>
              <a:t>KAPITEL 03 · ANATOMIE</a:t>
            </a:r>
          </a:p>
        </p:txBody>
      </p:sp>
      <p:sp>
        <p:nvSpPr>
          <p:cNvPr id="3" name="TextBox 2"/>
          <p:cNvSpPr txBox="1"/>
          <p:nvPr/>
        </p:nvSpPr>
        <p:spPr>
          <a:xfrm>
            <a:off x="658368" y="868680"/>
            <a:ext cx="10881360" cy="1463040"/>
          </a:xfrm>
          <a:prstGeom prst="rect">
            <a:avLst/>
          </a:prstGeom>
          <a:noFill/>
        </p:spPr>
        <p:txBody>
          <a:bodyPr wrap="square" anchor="t">
            <a:spAutoFit/>
          </a:bodyPr>
          <a:lstStyle/>
          <a:p>
            <a:pPr algn="l">
              <a:lnSpc>
                <a:spcPct val="98000"/>
              </a:lnSpc>
              <a:spcBef>
                <a:spcPts val="0"/>
              </a:spcBef>
              <a:spcAft>
                <a:spcPts val="600"/>
              </a:spcAft>
            </a:pPr>
            <a:r>
              <a:rPr sz="4400" b="1" i="0">
                <a:solidFill>
                  <a:srgbClr val="E8EEF5"/>
                </a:solidFill>
                <a:latin typeface="Avenir Next Condensed"/>
              </a:rPr>
              <a:t>DER STURM IM QUERSCHNITT</a:t>
            </a:r>
          </a:p>
        </p:txBody>
      </p:sp>
      <p:sp>
        <p:nvSpPr>
          <p:cNvPr id="4" name="Rectangle 3"/>
          <p:cNvSpPr/>
          <p:nvPr/>
        </p:nvSpPr>
        <p:spPr>
          <a:xfrm>
            <a:off x="713232" y="2112264"/>
            <a:ext cx="45720" cy="566928"/>
          </a:xfrm>
          <a:prstGeom prst="rect">
            <a:avLst/>
          </a:prstGeom>
          <a:solidFill>
            <a:srgbClr val="E8EE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057400"/>
            <a:ext cx="4389120" cy="960120"/>
          </a:xfrm>
          <a:prstGeom prst="rect">
            <a:avLst/>
          </a:prstGeom>
          <a:noFill/>
        </p:spPr>
        <p:txBody>
          <a:bodyPr wrap="square" anchor="t">
            <a:spAutoFit/>
          </a:bodyPr>
          <a:lstStyle/>
          <a:p>
            <a:pPr algn="l">
              <a:lnSpc>
                <a:spcPct val="112000"/>
              </a:lnSpc>
              <a:spcBef>
                <a:spcPts val="0"/>
              </a:spcBef>
              <a:spcAft>
                <a:spcPts val="600"/>
              </a:spcAft>
            </a:pPr>
            <a:r>
              <a:rPr sz="1450" b="1" i="0">
                <a:solidFill>
                  <a:srgbClr val="E8EEF5"/>
                </a:solidFill>
                <a:latin typeface="Helvetica Neue"/>
              </a:rPr>
              <a:t>Auge</a:t>
            </a:r>
            <a:r>
              <a:rPr sz="1450" b="0" i="0">
                <a:solidFill>
                  <a:srgbClr val="9AA8BA"/>
                </a:solidFill>
                <a:latin typeface="Helvetica Neue"/>
              </a:rPr>
              <a:t> — windstill, wolkenlos: Hier sinkt kalte Luft ab.</a:t>
            </a:r>
          </a:p>
        </p:txBody>
      </p:sp>
      <p:sp>
        <p:nvSpPr>
          <p:cNvPr id="6" name="Rectangle 5"/>
          <p:cNvSpPr/>
          <p:nvPr/>
        </p:nvSpPr>
        <p:spPr>
          <a:xfrm>
            <a:off x="713232" y="3081528"/>
            <a:ext cx="45720" cy="566928"/>
          </a:xfrm>
          <a:prstGeom prst="rect">
            <a:avLst/>
          </a:prstGeom>
          <a:solidFill>
            <a:srgbClr val="E23A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3026664"/>
            <a:ext cx="4389120" cy="960120"/>
          </a:xfrm>
          <a:prstGeom prst="rect">
            <a:avLst/>
          </a:prstGeom>
          <a:noFill/>
        </p:spPr>
        <p:txBody>
          <a:bodyPr wrap="square" anchor="t">
            <a:spAutoFit/>
          </a:bodyPr>
          <a:lstStyle/>
          <a:p>
            <a:pPr algn="l">
              <a:lnSpc>
                <a:spcPct val="112000"/>
              </a:lnSpc>
              <a:spcBef>
                <a:spcPts val="0"/>
              </a:spcBef>
              <a:spcAft>
                <a:spcPts val="600"/>
              </a:spcAft>
            </a:pPr>
            <a:r>
              <a:rPr sz="1450" b="1" i="0">
                <a:solidFill>
                  <a:srgbClr val="E8EEF5"/>
                </a:solidFill>
                <a:latin typeface="Helvetica Neue"/>
              </a:rPr>
              <a:t>Eyewall (Augenwand)</a:t>
            </a:r>
            <a:r>
              <a:rPr sz="1450" b="0" i="0">
                <a:solidFill>
                  <a:srgbClr val="9AA8BA"/>
                </a:solidFill>
                <a:latin typeface="Helvetica Neue"/>
              </a:rPr>
              <a:t> — rotierende Wolkenmauer mit den stärksten Winden und heftigstem Regen.</a:t>
            </a:r>
          </a:p>
        </p:txBody>
      </p:sp>
      <p:sp>
        <p:nvSpPr>
          <p:cNvPr id="8" name="Rectangle 7"/>
          <p:cNvSpPr/>
          <p:nvPr/>
        </p:nvSpPr>
        <p:spPr>
          <a:xfrm>
            <a:off x="713232" y="4050791"/>
            <a:ext cx="45720" cy="566928"/>
          </a:xfrm>
          <a:prstGeom prst="rect">
            <a:avLst/>
          </a:prstGeom>
          <a:solidFill>
            <a:srgbClr val="62C8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3995928"/>
            <a:ext cx="4389120" cy="960120"/>
          </a:xfrm>
          <a:prstGeom prst="rect">
            <a:avLst/>
          </a:prstGeom>
          <a:noFill/>
        </p:spPr>
        <p:txBody>
          <a:bodyPr wrap="square" anchor="t">
            <a:spAutoFit/>
          </a:bodyPr>
          <a:lstStyle/>
          <a:p>
            <a:pPr algn="l">
              <a:lnSpc>
                <a:spcPct val="112000"/>
              </a:lnSpc>
              <a:spcBef>
                <a:spcPts val="0"/>
              </a:spcBef>
              <a:spcAft>
                <a:spcPts val="600"/>
              </a:spcAft>
            </a:pPr>
            <a:r>
              <a:rPr sz="1450" b="1" i="0">
                <a:solidFill>
                  <a:srgbClr val="E8EEF5"/>
                </a:solidFill>
                <a:latin typeface="Helvetica Neue"/>
              </a:rPr>
              <a:t>Regenbänder</a:t>
            </a:r>
            <a:r>
              <a:rPr sz="1450" b="0" i="0">
                <a:solidFill>
                  <a:srgbClr val="9AA8BA"/>
                </a:solidFill>
                <a:latin typeface="Helvetica Neue"/>
              </a:rPr>
              <a:t> — spiralförmige Wolkenschlangen; unten strömt Luft ein, oben fließt sie ab.</a:t>
            </a:r>
          </a:p>
        </p:txBody>
      </p:sp>
      <p:sp>
        <p:nvSpPr>
          <p:cNvPr id="10" name="Rectangle 9"/>
          <p:cNvSpPr/>
          <p:nvPr/>
        </p:nvSpPr>
        <p:spPr>
          <a:xfrm>
            <a:off x="713232" y="5020055"/>
            <a:ext cx="45720" cy="566928"/>
          </a:xfrm>
          <a:prstGeom prst="rect">
            <a:avLst/>
          </a:prstGeom>
          <a:solidFill>
            <a:srgbClr val="F5AE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4965192"/>
            <a:ext cx="4389120" cy="960120"/>
          </a:xfrm>
          <a:prstGeom prst="rect">
            <a:avLst/>
          </a:prstGeom>
          <a:noFill/>
        </p:spPr>
        <p:txBody>
          <a:bodyPr wrap="square" anchor="t">
            <a:spAutoFit/>
          </a:bodyPr>
          <a:lstStyle/>
          <a:p>
            <a:pPr algn="l">
              <a:lnSpc>
                <a:spcPct val="112000"/>
              </a:lnSpc>
              <a:spcBef>
                <a:spcPts val="0"/>
              </a:spcBef>
              <a:spcAft>
                <a:spcPts val="600"/>
              </a:spcAft>
            </a:pPr>
            <a:r>
              <a:rPr sz="1450" b="1" i="0">
                <a:solidFill>
                  <a:srgbClr val="E8EEF5"/>
                </a:solidFill>
                <a:latin typeface="Helvetica Neue"/>
              </a:rPr>
              <a:t>Verdunstung</a:t>
            </a:r>
            <a:r>
              <a:rPr sz="1450" b="0" i="0">
                <a:solidFill>
                  <a:srgbClr val="9AA8BA"/>
                </a:solidFill>
                <a:latin typeface="Helvetica Neue"/>
              </a:rPr>
              <a:t> über mind. 26 °C warmem Wasser hält die Maschine am Laufen.</a:t>
            </a:r>
          </a:p>
        </p:txBody>
      </p:sp>
      <p:sp>
        <p:nvSpPr>
          <p:cNvPr id="12" name="Rounded Rectangle 11"/>
          <p:cNvSpPr/>
          <p:nvPr/>
        </p:nvSpPr>
        <p:spPr>
          <a:xfrm>
            <a:off x="5623560" y="1920240"/>
            <a:ext cx="6254496" cy="3805732"/>
          </a:xfrm>
          <a:prstGeom prst="roundRect">
            <a:avLst>
              <a:gd name="adj" fmla="val 4500"/>
            </a:avLst>
          </a:prstGeom>
          <a:solidFill>
            <a:srgbClr val="111A27"/>
          </a:solidFill>
          <a:ln w="9525">
            <a:solidFill>
              <a:srgbClr val="2A36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m2_querschnitt.jpg"/>
          <p:cNvPicPr>
            <a:picLocks noChangeAspect="1"/>
          </p:cNvPicPr>
          <p:nvPr/>
        </p:nvPicPr>
        <p:blipFill>
          <a:blip r:embed="rId2"/>
          <a:stretch>
            <a:fillRect/>
          </a:stretch>
        </p:blipFill>
        <p:spPr>
          <a:xfrm>
            <a:off x="5733288" y="2029968"/>
            <a:ext cx="6035040" cy="3238804"/>
          </a:xfrm>
          <a:prstGeom prst="rect">
            <a:avLst/>
          </a:prstGeom>
        </p:spPr>
      </p:pic>
      <p:sp>
        <p:nvSpPr>
          <p:cNvPr id="14" name="TextBox 13"/>
          <p:cNvSpPr txBox="1"/>
          <p:nvPr/>
        </p:nvSpPr>
        <p:spPr>
          <a:xfrm>
            <a:off x="5733288" y="5305348"/>
            <a:ext cx="6035040" cy="320040"/>
          </a:xfrm>
          <a:prstGeom prst="rect">
            <a:avLst/>
          </a:prstGeom>
          <a:noFill/>
        </p:spPr>
        <p:txBody>
          <a:bodyPr wrap="square" anchor="t">
            <a:spAutoFit/>
          </a:bodyPr>
          <a:lstStyle/>
          <a:p>
            <a:pPr algn="l">
              <a:spcBef>
                <a:spcPts val="0"/>
              </a:spcBef>
              <a:spcAft>
                <a:spcPts val="600"/>
              </a:spcAft>
            </a:pPr>
            <a:r>
              <a:rPr sz="850" b="0" i="0" spc="120">
                <a:solidFill>
                  <a:srgbClr val="6E7D90"/>
                </a:solidFill>
                <a:latin typeface="Menlo"/>
              </a:rPr>
              <a:t>M2 · QUERSCHNITT EINES HURRIKANS (SCHULBUCH S. 112, © WESTERMANN)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B1119"/>
        </a:solidFill>
        <a:effectLst/>
      </p:bgPr>
    </p:bg>
    <p:spTree>
      <p:nvGrpSpPr>
        <p:cNvPr id="1" name=""/>
        <p:cNvGrpSpPr/>
        <p:nvPr/>
      </p:nvGrpSpPr>
      <p:grpSpPr/>
      <p:sp>
        <p:nvSpPr>
          <p:cNvPr id="2" name="TextBox 1"/>
          <p:cNvSpPr txBox="1"/>
          <p:nvPr/>
        </p:nvSpPr>
        <p:spPr>
          <a:xfrm>
            <a:off x="685800" y="502920"/>
            <a:ext cx="10789920" cy="365760"/>
          </a:xfrm>
          <a:prstGeom prst="rect">
            <a:avLst/>
          </a:prstGeom>
          <a:noFill/>
        </p:spPr>
        <p:txBody>
          <a:bodyPr wrap="square" anchor="t">
            <a:spAutoFit/>
          </a:bodyPr>
          <a:lstStyle/>
          <a:p>
            <a:pPr algn="l">
              <a:spcBef>
                <a:spcPts val="0"/>
              </a:spcBef>
              <a:spcAft>
                <a:spcPts val="600"/>
              </a:spcAft>
            </a:pPr>
            <a:r>
              <a:rPr sz="1200" b="0" i="0" spc="300">
                <a:solidFill>
                  <a:srgbClr val="62C8DE"/>
                </a:solidFill>
                <a:latin typeface="Menlo"/>
              </a:rPr>
              <a:t>KAPITEL 04 · DIE REISE</a:t>
            </a:r>
          </a:p>
        </p:txBody>
      </p:sp>
      <p:sp>
        <p:nvSpPr>
          <p:cNvPr id="3" name="TextBox 2"/>
          <p:cNvSpPr txBox="1"/>
          <p:nvPr/>
        </p:nvSpPr>
        <p:spPr>
          <a:xfrm>
            <a:off x="658368" y="868680"/>
            <a:ext cx="10881360" cy="1463040"/>
          </a:xfrm>
          <a:prstGeom prst="rect">
            <a:avLst/>
          </a:prstGeom>
          <a:noFill/>
        </p:spPr>
        <p:txBody>
          <a:bodyPr wrap="square" anchor="t">
            <a:spAutoFit/>
          </a:bodyPr>
          <a:lstStyle/>
          <a:p>
            <a:pPr algn="l">
              <a:lnSpc>
                <a:spcPct val="98000"/>
              </a:lnSpc>
              <a:spcBef>
                <a:spcPts val="0"/>
              </a:spcBef>
              <a:spcAft>
                <a:spcPts val="600"/>
              </a:spcAft>
            </a:pPr>
            <a:r>
              <a:rPr sz="4400" b="1" i="0">
                <a:solidFill>
                  <a:srgbClr val="E8EEF5"/>
                </a:solidFill>
                <a:latin typeface="Avenir Next Condensed"/>
              </a:rPr>
              <a:t>AUTOBAHN RICHTUNG KARIBIK</a:t>
            </a:r>
          </a:p>
        </p:txBody>
      </p:sp>
      <p:sp>
        <p:nvSpPr>
          <p:cNvPr id="4" name="Rounded Rectangle 3"/>
          <p:cNvSpPr/>
          <p:nvPr/>
        </p:nvSpPr>
        <p:spPr>
          <a:xfrm>
            <a:off x="658368" y="1920240"/>
            <a:ext cx="6711696" cy="3259004"/>
          </a:xfrm>
          <a:prstGeom prst="roundRect">
            <a:avLst>
              <a:gd name="adj" fmla="val 4500"/>
            </a:avLst>
          </a:prstGeom>
          <a:solidFill>
            <a:srgbClr val="111A27"/>
          </a:solidFill>
          <a:ln w="9525">
            <a:solidFill>
              <a:srgbClr val="2A36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m5_zugbahnen.jpg"/>
          <p:cNvPicPr>
            <a:picLocks noChangeAspect="1"/>
          </p:cNvPicPr>
          <p:nvPr/>
        </p:nvPicPr>
        <p:blipFill>
          <a:blip r:embed="rId2"/>
          <a:stretch>
            <a:fillRect/>
          </a:stretch>
        </p:blipFill>
        <p:spPr>
          <a:xfrm>
            <a:off x="768096" y="2029968"/>
            <a:ext cx="6492240" cy="3039548"/>
          </a:xfrm>
          <a:prstGeom prst="rect">
            <a:avLst/>
          </a:prstGeom>
        </p:spPr>
      </p:pic>
      <p:sp>
        <p:nvSpPr>
          <p:cNvPr id="6" name="TextBox 5"/>
          <p:cNvSpPr txBox="1"/>
          <p:nvPr/>
        </p:nvSpPr>
        <p:spPr>
          <a:xfrm>
            <a:off x="768096" y="5179244"/>
            <a:ext cx="6492240" cy="320040"/>
          </a:xfrm>
          <a:prstGeom prst="rect">
            <a:avLst/>
          </a:prstGeom>
          <a:noFill/>
        </p:spPr>
        <p:txBody>
          <a:bodyPr wrap="square" anchor="t">
            <a:spAutoFit/>
          </a:bodyPr>
          <a:lstStyle/>
          <a:p>
            <a:pPr algn="l">
              <a:spcBef>
                <a:spcPts val="0"/>
              </a:spcBef>
              <a:spcAft>
                <a:spcPts val="600"/>
              </a:spcAft>
            </a:pPr>
            <a:r>
              <a:rPr sz="850" b="0" i="0" spc="120">
                <a:solidFill>
                  <a:srgbClr val="6E7D90"/>
                </a:solidFill>
                <a:latin typeface="Menlo"/>
              </a:rPr>
              <a:t>M5 · HURRIKANZUGBAHNEN (SCHULBUCH S. 113, © WESTERMANN)</a:t>
            </a:r>
          </a:p>
        </p:txBody>
      </p:sp>
      <p:sp>
        <p:nvSpPr>
          <p:cNvPr id="7" name="Rounded Rectangle 6"/>
          <p:cNvSpPr/>
          <p:nvPr/>
        </p:nvSpPr>
        <p:spPr>
          <a:xfrm>
            <a:off x="7635240" y="1920240"/>
            <a:ext cx="3886200" cy="1325880"/>
          </a:xfrm>
          <a:prstGeom prst="roundRect">
            <a:avLst>
              <a:gd name="adj" fmla="val 4500"/>
            </a:avLst>
          </a:prstGeom>
          <a:solidFill>
            <a:srgbClr val="111A27"/>
          </a:solidFill>
          <a:ln w="9525">
            <a:solidFill>
              <a:srgbClr val="2A36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863840" y="2057400"/>
            <a:ext cx="3474720" cy="1097280"/>
          </a:xfrm>
          <a:prstGeom prst="rect">
            <a:avLst/>
          </a:prstGeom>
          <a:noFill/>
        </p:spPr>
        <p:txBody>
          <a:bodyPr wrap="square" anchor="t">
            <a:spAutoFit/>
          </a:bodyPr>
          <a:lstStyle/>
          <a:p>
            <a:pPr algn="l">
              <a:spcBef>
                <a:spcPts val="0"/>
              </a:spcBef>
              <a:spcAft>
                <a:spcPts val="300"/>
              </a:spcAft>
            </a:pPr>
            <a:r>
              <a:rPr sz="1100" b="0" i="0" spc="200">
                <a:solidFill>
                  <a:srgbClr val="62C8DE"/>
                </a:solidFill>
                <a:latin typeface="Menlo"/>
              </a:rPr>
              <a:t>GEBURTSZONE</a:t>
            </a:r>
          </a:p>
          <a:p>
            <a:pPr algn="l">
              <a:lnSpc>
                <a:spcPct val="112000"/>
              </a:lnSpc>
              <a:spcBef>
                <a:spcPts val="0"/>
              </a:spcBef>
              <a:spcAft>
                <a:spcPts val="600"/>
              </a:spcAft>
            </a:pPr>
            <a:r>
              <a:rPr sz="1250" b="0" i="0">
                <a:solidFill>
                  <a:srgbClr val="9AA8BA"/>
                </a:solidFill>
                <a:latin typeface="Helvetica Neue"/>
              </a:rPr>
              <a:t>Regionen mit Wassertemperatur über 26 °C (violett) — mindestens einen Monat lang.</a:t>
            </a:r>
          </a:p>
        </p:txBody>
      </p:sp>
      <p:sp>
        <p:nvSpPr>
          <p:cNvPr id="9" name="Rounded Rectangle 8"/>
          <p:cNvSpPr/>
          <p:nvPr/>
        </p:nvSpPr>
        <p:spPr>
          <a:xfrm>
            <a:off x="7635240" y="3401568"/>
            <a:ext cx="3886200" cy="1325880"/>
          </a:xfrm>
          <a:prstGeom prst="roundRect">
            <a:avLst>
              <a:gd name="adj" fmla="val 4500"/>
            </a:avLst>
          </a:prstGeom>
          <a:solidFill>
            <a:srgbClr val="111A27"/>
          </a:solidFill>
          <a:ln w="9525">
            <a:solidFill>
              <a:srgbClr val="2A36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863840" y="3538728"/>
            <a:ext cx="3474720" cy="1097280"/>
          </a:xfrm>
          <a:prstGeom prst="rect">
            <a:avLst/>
          </a:prstGeom>
          <a:noFill/>
        </p:spPr>
        <p:txBody>
          <a:bodyPr wrap="square" anchor="t">
            <a:spAutoFit/>
          </a:bodyPr>
          <a:lstStyle/>
          <a:p>
            <a:pPr algn="l">
              <a:spcBef>
                <a:spcPts val="0"/>
              </a:spcBef>
              <a:spcAft>
                <a:spcPts val="300"/>
              </a:spcAft>
            </a:pPr>
            <a:r>
              <a:rPr sz="1100" b="0" i="0" spc="200">
                <a:solidFill>
                  <a:srgbClr val="62C8DE"/>
                </a:solidFill>
                <a:latin typeface="Menlo"/>
              </a:rPr>
              <a:t>WESTDRIFT</a:t>
            </a:r>
          </a:p>
          <a:p>
            <a:pPr algn="l">
              <a:lnSpc>
                <a:spcPct val="112000"/>
              </a:lnSpc>
              <a:spcBef>
                <a:spcPts val="0"/>
              </a:spcBef>
              <a:spcAft>
                <a:spcPts val="600"/>
              </a:spcAft>
            </a:pPr>
            <a:r>
              <a:rPr sz="1250" b="0" i="0">
                <a:solidFill>
                  <a:srgbClr val="9AA8BA"/>
                </a:solidFill>
                <a:latin typeface="Helvetica Neue"/>
              </a:rPr>
              <a:t>Die Passatwinde schieben die Wirbel nach Westen — mitten durch die Karibik.</a:t>
            </a:r>
          </a:p>
        </p:txBody>
      </p:sp>
      <p:sp>
        <p:nvSpPr>
          <p:cNvPr id="11" name="Rounded Rectangle 10"/>
          <p:cNvSpPr/>
          <p:nvPr/>
        </p:nvSpPr>
        <p:spPr>
          <a:xfrm>
            <a:off x="7635240" y="4882896"/>
            <a:ext cx="3886200" cy="1325880"/>
          </a:xfrm>
          <a:prstGeom prst="roundRect">
            <a:avLst>
              <a:gd name="adj" fmla="val 4500"/>
            </a:avLst>
          </a:prstGeom>
          <a:solidFill>
            <a:srgbClr val="111A27"/>
          </a:solidFill>
          <a:ln w="9525">
            <a:solidFill>
              <a:srgbClr val="2A36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863840" y="5020056"/>
            <a:ext cx="3474720" cy="1097280"/>
          </a:xfrm>
          <a:prstGeom prst="rect">
            <a:avLst/>
          </a:prstGeom>
          <a:noFill/>
        </p:spPr>
        <p:txBody>
          <a:bodyPr wrap="square" anchor="t">
            <a:spAutoFit/>
          </a:bodyPr>
          <a:lstStyle/>
          <a:p>
            <a:pPr algn="l">
              <a:spcBef>
                <a:spcPts val="0"/>
              </a:spcBef>
              <a:spcAft>
                <a:spcPts val="300"/>
              </a:spcAft>
            </a:pPr>
            <a:r>
              <a:rPr sz="1100" b="0" i="0" spc="200">
                <a:solidFill>
                  <a:srgbClr val="62C8DE"/>
                </a:solidFill>
                <a:latin typeface="Menlo"/>
              </a:rPr>
              <a:t>ABDREHEN &amp; STERBEN</a:t>
            </a:r>
          </a:p>
          <a:p>
            <a:pPr algn="l">
              <a:lnSpc>
                <a:spcPct val="112000"/>
              </a:lnSpc>
              <a:spcBef>
                <a:spcPts val="0"/>
              </a:spcBef>
              <a:spcAft>
                <a:spcPts val="600"/>
              </a:spcAft>
            </a:pPr>
            <a:r>
              <a:rPr sz="1250" b="0" i="0">
                <a:solidFill>
                  <a:srgbClr val="9AA8BA"/>
                </a:solidFill>
                <a:latin typeface="Helvetica Neue"/>
              </a:rPr>
              <a:t>Später drehen die Bahnen nach Norden ab. Über Land oder kaltem Wasser stirbt der Sturm.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B1119"/>
        </a:solidFill>
        <a:effectLst/>
      </p:bgPr>
    </p:bg>
    <p:spTree>
      <p:nvGrpSpPr>
        <p:cNvPr id="1" name=""/>
        <p:cNvGrpSpPr/>
        <p:nvPr/>
      </p:nvGrpSpPr>
      <p:grpSpPr/>
      <p:pic>
        <p:nvPicPr>
          <p:cNvPr id="2" name="Picture 1" descr="m3_slide.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777240" y="3520440"/>
            <a:ext cx="7315200" cy="365760"/>
          </a:xfrm>
          <a:prstGeom prst="rect">
            <a:avLst/>
          </a:prstGeom>
          <a:noFill/>
        </p:spPr>
        <p:txBody>
          <a:bodyPr wrap="square" anchor="t">
            <a:spAutoFit/>
          </a:bodyPr>
          <a:lstStyle/>
          <a:p>
            <a:pPr algn="l">
              <a:spcBef>
                <a:spcPts val="0"/>
              </a:spcBef>
              <a:spcAft>
                <a:spcPts val="600"/>
              </a:spcAft>
            </a:pPr>
            <a:r>
              <a:rPr sz="1200" b="0" i="0" spc="300">
                <a:solidFill>
                  <a:srgbClr val="62C8DE"/>
                </a:solidFill>
                <a:latin typeface="Menlo"/>
              </a:rPr>
              <a:t>KAPITEL 05 · FALLBEISPIEL</a:t>
            </a:r>
          </a:p>
        </p:txBody>
      </p:sp>
      <p:sp>
        <p:nvSpPr>
          <p:cNvPr id="4" name="TextBox 3"/>
          <p:cNvSpPr txBox="1"/>
          <p:nvPr/>
        </p:nvSpPr>
        <p:spPr>
          <a:xfrm>
            <a:off x="749808" y="3749039"/>
            <a:ext cx="10881360" cy="1371600"/>
          </a:xfrm>
          <a:prstGeom prst="rect">
            <a:avLst/>
          </a:prstGeom>
          <a:noFill/>
        </p:spPr>
        <p:txBody>
          <a:bodyPr wrap="square" anchor="t">
            <a:spAutoFit/>
          </a:bodyPr>
          <a:lstStyle/>
          <a:p>
            <a:pPr algn="l">
              <a:lnSpc>
                <a:spcPct val="98000"/>
              </a:lnSpc>
              <a:spcBef>
                <a:spcPts val="0"/>
              </a:spcBef>
              <a:spcAft>
                <a:spcPts val="600"/>
              </a:spcAft>
            </a:pPr>
            <a:r>
              <a:rPr sz="4000" b="1" i="0">
                <a:solidFill>
                  <a:srgbClr val="E8EEF5"/>
                </a:solidFill>
                <a:latin typeface="Avenir Next Condensed"/>
              </a:rPr>
              <a:t>1. SEPTEMBER 2019 —
DORIAN TRIFFT DIE BAHAMAS</a:t>
            </a:r>
          </a:p>
        </p:txBody>
      </p:sp>
      <p:sp>
        <p:nvSpPr>
          <p:cNvPr id="5" name="Rounded Rectangle 4"/>
          <p:cNvSpPr/>
          <p:nvPr/>
        </p:nvSpPr>
        <p:spPr>
          <a:xfrm>
            <a:off x="777240" y="5806440"/>
            <a:ext cx="1961388" cy="475488"/>
          </a:xfrm>
          <a:prstGeom prst="roundRect">
            <a:avLst>
              <a:gd name="adj" fmla="val 4500"/>
            </a:avLst>
          </a:prstGeom>
          <a:solidFill>
            <a:srgbClr val="E23A55"/>
          </a:solidFill>
          <a:ln w="9525">
            <a:solidFill>
              <a:srgbClr val="E23A55"/>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50" b="1" i="0" spc="150">
                <a:solidFill>
                  <a:srgbClr val="12060B"/>
                </a:solidFill>
                <a:latin typeface="Menlo"/>
              </a:rPr>
              <a:t>KATEGORIE 5 / 5</a:t>
            </a:r>
          </a:p>
        </p:txBody>
      </p:sp>
      <p:sp>
        <p:nvSpPr>
          <p:cNvPr id="6" name="Rounded Rectangle 5"/>
          <p:cNvSpPr/>
          <p:nvPr/>
        </p:nvSpPr>
        <p:spPr>
          <a:xfrm>
            <a:off x="2939796" y="5806440"/>
            <a:ext cx="1961388" cy="475488"/>
          </a:xfrm>
          <a:prstGeom prst="roundRect">
            <a:avLst>
              <a:gd name="adj" fmla="val 4500"/>
            </a:avLst>
          </a:prstGeom>
          <a:solidFill>
            <a:srgbClr val="111A27"/>
          </a:solidFill>
          <a:ln w="9525">
            <a:solidFill>
              <a:srgbClr val="2A3648"/>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50" b="0" i="0" spc="150">
                <a:solidFill>
                  <a:srgbClr val="E8EEF5"/>
                </a:solidFill>
                <a:latin typeface="Menlo"/>
              </a:rPr>
              <a:t>WIND ≈ 300 KM/H</a:t>
            </a:r>
          </a:p>
        </p:txBody>
      </p:sp>
      <p:sp>
        <p:nvSpPr>
          <p:cNvPr id="7" name="Rounded Rectangle 6"/>
          <p:cNvSpPr/>
          <p:nvPr/>
        </p:nvSpPr>
        <p:spPr>
          <a:xfrm>
            <a:off x="5102352" y="5806440"/>
            <a:ext cx="1961388" cy="475488"/>
          </a:xfrm>
          <a:prstGeom prst="roundRect">
            <a:avLst>
              <a:gd name="adj" fmla="val 4500"/>
            </a:avLst>
          </a:prstGeom>
          <a:solidFill>
            <a:srgbClr val="111A27"/>
          </a:solidFill>
          <a:ln w="9525">
            <a:solidFill>
              <a:srgbClr val="2A3648"/>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50" b="0" i="0" spc="150">
                <a:solidFill>
                  <a:srgbClr val="E8EEF5"/>
                </a:solidFill>
                <a:latin typeface="Menlo"/>
              </a:rPr>
              <a:t>BÖEN &gt; 350 KM/H</a:t>
            </a:r>
          </a:p>
        </p:txBody>
      </p:sp>
      <p:sp>
        <p:nvSpPr>
          <p:cNvPr id="8" name="Rounded Rectangle 7"/>
          <p:cNvSpPr/>
          <p:nvPr/>
        </p:nvSpPr>
        <p:spPr>
          <a:xfrm>
            <a:off x="7264908" y="5806440"/>
            <a:ext cx="2382012" cy="475488"/>
          </a:xfrm>
          <a:prstGeom prst="roundRect">
            <a:avLst>
              <a:gd name="adj" fmla="val 4500"/>
            </a:avLst>
          </a:prstGeom>
          <a:solidFill>
            <a:srgbClr val="111A27"/>
          </a:solidFill>
          <a:ln w="9525">
            <a:solidFill>
              <a:srgbClr val="2A3648"/>
            </a:solid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150" b="0" i="0" spc="150">
                <a:solidFill>
                  <a:srgbClr val="E8EEF5"/>
                </a:solidFill>
                <a:latin typeface="Menlo"/>
              </a:rPr>
              <a:t>FAST 24 H STATIONÄR</a:t>
            </a:r>
          </a:p>
        </p:txBody>
      </p:sp>
      <p:sp>
        <p:nvSpPr>
          <p:cNvPr id="9" name="TextBox 8"/>
          <p:cNvSpPr txBox="1"/>
          <p:nvPr/>
        </p:nvSpPr>
        <p:spPr>
          <a:xfrm>
            <a:off x="777240" y="6419088"/>
            <a:ext cx="10058400" cy="320040"/>
          </a:xfrm>
          <a:prstGeom prst="rect">
            <a:avLst/>
          </a:prstGeom>
          <a:noFill/>
        </p:spPr>
        <p:txBody>
          <a:bodyPr wrap="square" anchor="t">
            <a:spAutoFit/>
          </a:bodyPr>
          <a:lstStyle/>
          <a:p>
            <a:pPr algn="l">
              <a:spcBef>
                <a:spcPts val="0"/>
              </a:spcBef>
              <a:spcAft>
                <a:spcPts val="600"/>
              </a:spcAft>
            </a:pPr>
            <a:r>
              <a:rPr sz="850" b="0" i="0" spc="120">
                <a:solidFill>
                  <a:srgbClr val="6E7D90"/>
                </a:solidFill>
                <a:latin typeface="Menlo"/>
              </a:rPr>
              <a:t>SATELLITENBILD M3 · SCHULBUCH S. 113 · ZUSATZDATEN: NOAA / NHC</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B1119"/>
        </a:solidFill>
        <a:effectLst/>
      </p:bgPr>
    </p:bg>
    <p:spTree>
      <p:nvGrpSpPr>
        <p:cNvPr id="1" name=""/>
        <p:cNvGrpSpPr/>
        <p:nvPr/>
      </p:nvGrpSpPr>
      <p:grpSpPr/>
      <p:sp>
        <p:nvSpPr>
          <p:cNvPr id="2" name="TextBox 1"/>
          <p:cNvSpPr txBox="1"/>
          <p:nvPr/>
        </p:nvSpPr>
        <p:spPr>
          <a:xfrm>
            <a:off x="685800" y="502920"/>
            <a:ext cx="10789920" cy="365760"/>
          </a:xfrm>
          <a:prstGeom prst="rect">
            <a:avLst/>
          </a:prstGeom>
          <a:noFill/>
        </p:spPr>
        <p:txBody>
          <a:bodyPr wrap="square" anchor="t">
            <a:spAutoFit/>
          </a:bodyPr>
          <a:lstStyle/>
          <a:p>
            <a:pPr algn="l">
              <a:spcBef>
                <a:spcPts val="0"/>
              </a:spcBef>
              <a:spcAft>
                <a:spcPts val="600"/>
              </a:spcAft>
            </a:pPr>
            <a:r>
              <a:rPr sz="1200" b="0" i="0" spc="300">
                <a:solidFill>
                  <a:srgbClr val="62C8DE"/>
                </a:solidFill>
                <a:latin typeface="Menlo"/>
              </a:rPr>
              <a:t>KAPITEL 06 · DIE ZERSTÖRUNGSKRAFT</a:t>
            </a:r>
          </a:p>
        </p:txBody>
      </p:sp>
      <p:sp>
        <p:nvSpPr>
          <p:cNvPr id="3" name="TextBox 2"/>
          <p:cNvSpPr txBox="1"/>
          <p:nvPr/>
        </p:nvSpPr>
        <p:spPr>
          <a:xfrm>
            <a:off x="658368" y="868680"/>
            <a:ext cx="10881360" cy="1463040"/>
          </a:xfrm>
          <a:prstGeom prst="rect">
            <a:avLst/>
          </a:prstGeom>
          <a:noFill/>
        </p:spPr>
        <p:txBody>
          <a:bodyPr wrap="square" anchor="t">
            <a:spAutoFit/>
          </a:bodyPr>
          <a:lstStyle/>
          <a:p>
            <a:pPr algn="l">
              <a:lnSpc>
                <a:spcPct val="98000"/>
              </a:lnSpc>
              <a:spcBef>
                <a:spcPts val="0"/>
              </a:spcBef>
              <a:spcAft>
                <a:spcPts val="600"/>
              </a:spcAft>
            </a:pPr>
            <a:r>
              <a:rPr sz="4400" b="1" i="0">
                <a:solidFill>
                  <a:srgbClr val="E8EEF5"/>
                </a:solidFill>
                <a:latin typeface="Avenir Next Condensed"/>
              </a:rPr>
              <a:t>VIER WAFFEN EINES HURRIKANS</a:t>
            </a:r>
          </a:p>
        </p:txBody>
      </p:sp>
      <p:sp>
        <p:nvSpPr>
          <p:cNvPr id="4" name="Rounded Rectangle 3"/>
          <p:cNvSpPr/>
          <p:nvPr/>
        </p:nvSpPr>
        <p:spPr>
          <a:xfrm>
            <a:off x="685800" y="1828800"/>
            <a:ext cx="5285232" cy="1691640"/>
          </a:xfrm>
          <a:prstGeom prst="roundRect">
            <a:avLst>
              <a:gd name="adj" fmla="val 4500"/>
            </a:avLst>
          </a:prstGeom>
          <a:solidFill>
            <a:srgbClr val="111A27"/>
          </a:solidFill>
          <a:ln w="9525">
            <a:solidFill>
              <a:srgbClr val="2A36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85800" y="1938528"/>
            <a:ext cx="41148" cy="1472184"/>
          </a:xfrm>
          <a:prstGeom prst="rect">
            <a:avLst/>
          </a:prstGeom>
          <a:solidFill>
            <a:srgbClr val="E23A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993392"/>
            <a:ext cx="4754880" cy="1463040"/>
          </a:xfrm>
          <a:prstGeom prst="rect">
            <a:avLst/>
          </a:prstGeom>
          <a:noFill/>
        </p:spPr>
        <p:txBody>
          <a:bodyPr wrap="square" anchor="t">
            <a:spAutoFit/>
          </a:bodyPr>
          <a:lstStyle/>
          <a:p>
            <a:pPr algn="l">
              <a:spcBef>
                <a:spcPts val="0"/>
              </a:spcBef>
              <a:spcAft>
                <a:spcPts val="300"/>
              </a:spcAft>
            </a:pPr>
            <a:r>
              <a:rPr sz="1900" b="1" i="0">
                <a:solidFill>
                  <a:srgbClr val="E8EEF5"/>
                </a:solidFill>
                <a:latin typeface="Avenir Next Condensed"/>
              </a:rPr>
              <a:t>ORKANWIND</a:t>
            </a:r>
          </a:p>
          <a:p>
            <a:pPr algn="l">
              <a:lnSpc>
                <a:spcPct val="112000"/>
              </a:lnSpc>
              <a:spcBef>
                <a:spcPts val="0"/>
              </a:spcBef>
              <a:spcAft>
                <a:spcPts val="400"/>
              </a:spcAft>
            </a:pPr>
            <a:r>
              <a:rPr sz="1300" b="0" i="0">
                <a:solidFill>
                  <a:srgbClr val="9AA8BA"/>
                </a:solidFill>
                <a:latin typeface="Helvetica Neue"/>
              </a:rPr>
              <a:t>Um 300 km/h — schwerste Sturmschäden an Gebäuden und Infrastruktur.</a:t>
            </a:r>
          </a:p>
          <a:p>
            <a:pPr algn="l">
              <a:spcBef>
                <a:spcPts val="0"/>
              </a:spcBef>
              <a:spcAft>
                <a:spcPts val="600"/>
              </a:spcAft>
            </a:pPr>
            <a:r>
              <a:rPr sz="900" b="0" i="0" spc="180">
                <a:solidFill>
                  <a:srgbClr val="6E7D90"/>
                </a:solidFill>
                <a:latin typeface="Menlo"/>
              </a:rPr>
              <a:t>DIREKT · SOFORT</a:t>
            </a:r>
          </a:p>
        </p:txBody>
      </p:sp>
      <p:sp>
        <p:nvSpPr>
          <p:cNvPr id="7" name="Rounded Rectangle 6"/>
          <p:cNvSpPr/>
          <p:nvPr/>
        </p:nvSpPr>
        <p:spPr>
          <a:xfrm>
            <a:off x="6217920" y="1828800"/>
            <a:ext cx="5285232" cy="1691640"/>
          </a:xfrm>
          <a:prstGeom prst="roundRect">
            <a:avLst>
              <a:gd name="adj" fmla="val 4500"/>
            </a:avLst>
          </a:prstGeom>
          <a:solidFill>
            <a:srgbClr val="111A27"/>
          </a:solidFill>
          <a:ln w="9525">
            <a:solidFill>
              <a:srgbClr val="2A36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217920" y="1938528"/>
            <a:ext cx="41148" cy="1472184"/>
          </a:xfrm>
          <a:prstGeom prst="rect">
            <a:avLst/>
          </a:prstGeom>
          <a:solidFill>
            <a:srgbClr val="62C8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92240" y="1993392"/>
            <a:ext cx="4754880" cy="1463040"/>
          </a:xfrm>
          <a:prstGeom prst="rect">
            <a:avLst/>
          </a:prstGeom>
          <a:noFill/>
        </p:spPr>
        <p:txBody>
          <a:bodyPr wrap="square" anchor="t">
            <a:spAutoFit/>
          </a:bodyPr>
          <a:lstStyle/>
          <a:p>
            <a:pPr algn="l">
              <a:spcBef>
                <a:spcPts val="0"/>
              </a:spcBef>
              <a:spcAft>
                <a:spcPts val="300"/>
              </a:spcAft>
            </a:pPr>
            <a:r>
              <a:rPr sz="1900" b="1" i="0">
                <a:solidFill>
                  <a:srgbClr val="E8EEF5"/>
                </a:solidFill>
                <a:latin typeface="Avenir Next Condensed"/>
              </a:rPr>
              <a:t>FLUTWELLEN</a:t>
            </a:r>
          </a:p>
          <a:p>
            <a:pPr algn="l">
              <a:lnSpc>
                <a:spcPct val="112000"/>
              </a:lnSpc>
              <a:spcBef>
                <a:spcPts val="0"/>
              </a:spcBef>
              <a:spcAft>
                <a:spcPts val="400"/>
              </a:spcAft>
            </a:pPr>
            <a:r>
              <a:rPr sz="1300" b="0" i="0">
                <a:solidFill>
                  <a:srgbClr val="9AA8BA"/>
                </a:solidFill>
                <a:latin typeface="Helvetica Neue"/>
              </a:rPr>
              <a:t>Der Sturm drückt das Meer aufs Land: meterhohe Sturmfluten überschwemmen die Küsten.</a:t>
            </a:r>
          </a:p>
          <a:p>
            <a:pPr algn="l">
              <a:spcBef>
                <a:spcPts val="0"/>
              </a:spcBef>
              <a:spcAft>
                <a:spcPts val="600"/>
              </a:spcAft>
            </a:pPr>
            <a:r>
              <a:rPr sz="900" b="0" i="0" spc="180">
                <a:solidFill>
                  <a:srgbClr val="6E7D90"/>
                </a:solidFill>
                <a:latin typeface="Menlo"/>
              </a:rPr>
              <a:t>KÜSTE · TÖDLICHSTE GEFAHR</a:t>
            </a:r>
          </a:p>
        </p:txBody>
      </p:sp>
      <p:sp>
        <p:nvSpPr>
          <p:cNvPr id="10" name="Rounded Rectangle 9"/>
          <p:cNvSpPr/>
          <p:nvPr/>
        </p:nvSpPr>
        <p:spPr>
          <a:xfrm>
            <a:off x="685800" y="3703320"/>
            <a:ext cx="5285232" cy="1691640"/>
          </a:xfrm>
          <a:prstGeom prst="roundRect">
            <a:avLst>
              <a:gd name="adj" fmla="val 4500"/>
            </a:avLst>
          </a:prstGeom>
          <a:solidFill>
            <a:srgbClr val="111A27"/>
          </a:solidFill>
          <a:ln w="9525">
            <a:solidFill>
              <a:srgbClr val="2A36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85800" y="3813048"/>
            <a:ext cx="41148" cy="1472184"/>
          </a:xfrm>
          <a:prstGeom prst="rect">
            <a:avLst/>
          </a:prstGeom>
          <a:solidFill>
            <a:srgbClr val="F5AE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3867911"/>
            <a:ext cx="4754880" cy="1463040"/>
          </a:xfrm>
          <a:prstGeom prst="rect">
            <a:avLst/>
          </a:prstGeom>
          <a:noFill/>
        </p:spPr>
        <p:txBody>
          <a:bodyPr wrap="square" anchor="t">
            <a:spAutoFit/>
          </a:bodyPr>
          <a:lstStyle/>
          <a:p>
            <a:pPr algn="l">
              <a:spcBef>
                <a:spcPts val="0"/>
              </a:spcBef>
              <a:spcAft>
                <a:spcPts val="300"/>
              </a:spcAft>
            </a:pPr>
            <a:r>
              <a:rPr sz="1900" b="1" i="0">
                <a:solidFill>
                  <a:srgbClr val="E8EEF5"/>
                </a:solidFill>
                <a:latin typeface="Avenir Next Condensed"/>
              </a:rPr>
              <a:t>STARKREGEN</a:t>
            </a:r>
          </a:p>
          <a:p>
            <a:pPr algn="l">
              <a:lnSpc>
                <a:spcPct val="112000"/>
              </a:lnSpc>
              <a:spcBef>
                <a:spcPts val="0"/>
              </a:spcBef>
              <a:spcAft>
                <a:spcPts val="400"/>
              </a:spcAft>
            </a:pPr>
            <a:r>
              <a:rPr sz="1300" b="0" i="0">
                <a:solidFill>
                  <a:srgbClr val="9AA8BA"/>
                </a:solidFill>
                <a:latin typeface="Helvetica Neue"/>
              </a:rPr>
              <a:t>Extreme Regenmengen lösen großflächige Überschwemmungen aus — auch im Landesinneren.</a:t>
            </a:r>
          </a:p>
          <a:p>
            <a:pPr algn="l">
              <a:spcBef>
                <a:spcPts val="0"/>
              </a:spcBef>
              <a:spcAft>
                <a:spcPts val="600"/>
              </a:spcAft>
            </a:pPr>
            <a:r>
              <a:rPr sz="900" b="0" i="0" spc="180">
                <a:solidFill>
                  <a:srgbClr val="6E7D90"/>
                </a:solidFill>
                <a:latin typeface="Menlo"/>
              </a:rPr>
              <a:t>STUNDEN BIS TAGE</a:t>
            </a:r>
          </a:p>
        </p:txBody>
      </p:sp>
      <p:sp>
        <p:nvSpPr>
          <p:cNvPr id="13" name="Rounded Rectangle 12"/>
          <p:cNvSpPr/>
          <p:nvPr/>
        </p:nvSpPr>
        <p:spPr>
          <a:xfrm>
            <a:off x="6217920" y="3703320"/>
            <a:ext cx="5285232" cy="1691640"/>
          </a:xfrm>
          <a:prstGeom prst="roundRect">
            <a:avLst>
              <a:gd name="adj" fmla="val 4500"/>
            </a:avLst>
          </a:prstGeom>
          <a:solidFill>
            <a:srgbClr val="111A27"/>
          </a:solidFill>
          <a:ln w="9525">
            <a:solidFill>
              <a:srgbClr val="2A36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17920" y="3813048"/>
            <a:ext cx="41148" cy="1472184"/>
          </a:xfrm>
          <a:prstGeom prst="rect">
            <a:avLst/>
          </a:prstGeom>
          <a:solidFill>
            <a:srgbClr val="E85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92240" y="3867911"/>
            <a:ext cx="4754880" cy="1463040"/>
          </a:xfrm>
          <a:prstGeom prst="rect">
            <a:avLst/>
          </a:prstGeom>
          <a:noFill/>
        </p:spPr>
        <p:txBody>
          <a:bodyPr wrap="square" anchor="t">
            <a:spAutoFit/>
          </a:bodyPr>
          <a:lstStyle/>
          <a:p>
            <a:pPr algn="l">
              <a:spcBef>
                <a:spcPts val="0"/>
              </a:spcBef>
              <a:spcAft>
                <a:spcPts val="300"/>
              </a:spcAft>
            </a:pPr>
            <a:r>
              <a:rPr sz="1900" b="1" i="0">
                <a:solidFill>
                  <a:srgbClr val="E8EEF5"/>
                </a:solidFill>
                <a:latin typeface="Avenir Next Condensed"/>
              </a:rPr>
              <a:t>ERDRUTSCHE</a:t>
            </a:r>
          </a:p>
          <a:p>
            <a:pPr algn="l">
              <a:lnSpc>
                <a:spcPct val="112000"/>
              </a:lnSpc>
              <a:spcBef>
                <a:spcPts val="0"/>
              </a:spcBef>
              <a:spcAft>
                <a:spcPts val="400"/>
              </a:spcAft>
            </a:pPr>
            <a:r>
              <a:rPr sz="1300" b="0" i="0">
                <a:solidFill>
                  <a:srgbClr val="9AA8BA"/>
                </a:solidFill>
                <a:latin typeface="Helvetica Neue"/>
              </a:rPr>
              <a:t>An Hängen werden Böden zu Schlammlawinen und Erdrutschen, die Siedlungen begraben.</a:t>
            </a:r>
          </a:p>
          <a:p>
            <a:pPr algn="l">
              <a:spcBef>
                <a:spcPts val="0"/>
              </a:spcBef>
              <a:spcAft>
                <a:spcPts val="600"/>
              </a:spcAft>
            </a:pPr>
            <a:r>
              <a:rPr sz="900" b="0" i="0" spc="180">
                <a:solidFill>
                  <a:srgbClr val="6E7D90"/>
                </a:solidFill>
                <a:latin typeface="Menlo"/>
              </a:rPr>
              <a:t>BERGLAND · NACH DEM STURM</a:t>
            </a:r>
          </a:p>
        </p:txBody>
      </p:sp>
      <p:sp>
        <p:nvSpPr>
          <p:cNvPr id="16" name="TextBox 15"/>
          <p:cNvSpPr txBox="1"/>
          <p:nvPr/>
        </p:nvSpPr>
        <p:spPr>
          <a:xfrm>
            <a:off x="685800" y="5806440"/>
            <a:ext cx="10881360" cy="731520"/>
          </a:xfrm>
          <a:prstGeom prst="rect">
            <a:avLst/>
          </a:prstGeom>
          <a:noFill/>
        </p:spPr>
        <p:txBody>
          <a:bodyPr wrap="square" anchor="t">
            <a:spAutoFit/>
          </a:bodyPr>
          <a:lstStyle/>
          <a:p>
            <a:pPr algn="l">
              <a:lnSpc>
                <a:spcPct val="115000"/>
              </a:lnSpc>
              <a:spcBef>
                <a:spcPts val="0"/>
              </a:spcBef>
              <a:spcAft>
                <a:spcPts val="600"/>
              </a:spcAft>
            </a:pPr>
            <a:r>
              <a:rPr sz="1400" b="0" i="0">
                <a:solidFill>
                  <a:srgbClr val="9AA8BA"/>
                </a:solidFill>
                <a:latin typeface="Helvetica Neue"/>
              </a:rPr>
              <a:t>Die Folgen wirken lange nach: </a:t>
            </a:r>
            <a:r>
              <a:rPr sz="1400" b="1" i="0">
                <a:solidFill>
                  <a:srgbClr val="E8EEF5"/>
                </a:solidFill>
                <a:latin typeface="Helvetica Neue"/>
              </a:rPr>
              <a:t>Versorgungsengpässe, Gesundheitsrisiken, enorme wirtschaftliche Verluste</a:t>
            </a:r>
            <a:r>
              <a:rPr sz="1400" b="0" i="0">
                <a:solidFill>
                  <a:srgbClr val="9AA8BA"/>
                </a:solidFill>
                <a:latin typeface="Helvetica Neue"/>
              </a:rPr>
              <a:t> — ganze Landstriche können in kurzer Zeit verwüstet werden.  (Schulbuch S. 112)</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B1119"/>
        </a:solidFill>
        <a:effectLst/>
      </p:bgPr>
    </p:bg>
    <p:spTree>
      <p:nvGrpSpPr>
        <p:cNvPr id="1" name=""/>
        <p:cNvGrpSpPr/>
        <p:nvPr/>
      </p:nvGrpSpPr>
      <p:grpSpPr/>
      <p:sp>
        <p:nvSpPr>
          <p:cNvPr id="2" name="TextBox 1"/>
          <p:cNvSpPr txBox="1"/>
          <p:nvPr/>
        </p:nvSpPr>
        <p:spPr>
          <a:xfrm>
            <a:off x="685800" y="502920"/>
            <a:ext cx="10789920" cy="365760"/>
          </a:xfrm>
          <a:prstGeom prst="rect">
            <a:avLst/>
          </a:prstGeom>
          <a:noFill/>
        </p:spPr>
        <p:txBody>
          <a:bodyPr wrap="square" anchor="t">
            <a:spAutoFit/>
          </a:bodyPr>
          <a:lstStyle/>
          <a:p>
            <a:pPr algn="l">
              <a:spcBef>
                <a:spcPts val="0"/>
              </a:spcBef>
              <a:spcAft>
                <a:spcPts val="600"/>
              </a:spcAft>
            </a:pPr>
            <a:r>
              <a:rPr sz="1200" b="0" i="0" spc="300">
                <a:solidFill>
                  <a:srgbClr val="62C8DE"/>
                </a:solidFill>
                <a:latin typeface="Menlo"/>
              </a:rPr>
              <a:t>KAPITEL 07 · DANACH</a:t>
            </a:r>
          </a:p>
        </p:txBody>
      </p:sp>
      <p:sp>
        <p:nvSpPr>
          <p:cNvPr id="3" name="TextBox 2"/>
          <p:cNvSpPr txBox="1"/>
          <p:nvPr/>
        </p:nvSpPr>
        <p:spPr>
          <a:xfrm>
            <a:off x="658368" y="868680"/>
            <a:ext cx="10881360" cy="1463040"/>
          </a:xfrm>
          <a:prstGeom prst="rect">
            <a:avLst/>
          </a:prstGeom>
          <a:noFill/>
        </p:spPr>
        <p:txBody>
          <a:bodyPr wrap="square" anchor="t">
            <a:spAutoFit/>
          </a:bodyPr>
          <a:lstStyle/>
          <a:p>
            <a:pPr algn="l">
              <a:lnSpc>
                <a:spcPct val="98000"/>
              </a:lnSpc>
              <a:spcBef>
                <a:spcPts val="0"/>
              </a:spcBef>
              <a:spcAft>
                <a:spcPts val="600"/>
              </a:spcAft>
            </a:pPr>
            <a:r>
              <a:rPr sz="3200" b="1" i="0">
                <a:solidFill>
                  <a:srgbClr val="E8EEF5"/>
                </a:solidFill>
                <a:latin typeface="Avenir Next Condensed"/>
              </a:rPr>
              <a:t>„ALS WÄREN HÄUSER DURCH EINE MÜHLE GEDREHT“</a:t>
            </a:r>
          </a:p>
        </p:txBody>
      </p:sp>
      <p:sp>
        <p:nvSpPr>
          <p:cNvPr id="4" name="Rounded Rectangle 3"/>
          <p:cNvSpPr/>
          <p:nvPr/>
        </p:nvSpPr>
        <p:spPr>
          <a:xfrm>
            <a:off x="6382512" y="1645920"/>
            <a:ext cx="5248656" cy="3579883"/>
          </a:xfrm>
          <a:prstGeom prst="roundRect">
            <a:avLst>
              <a:gd name="adj" fmla="val 4500"/>
            </a:avLst>
          </a:prstGeom>
          <a:solidFill>
            <a:srgbClr val="111A27"/>
          </a:solidFill>
          <a:ln w="9525">
            <a:solidFill>
              <a:srgbClr val="2A36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m1_zerstoerung.jpg"/>
          <p:cNvPicPr>
            <a:picLocks noChangeAspect="1"/>
          </p:cNvPicPr>
          <p:nvPr/>
        </p:nvPicPr>
        <p:blipFill>
          <a:blip r:embed="rId2"/>
          <a:stretch>
            <a:fillRect/>
          </a:stretch>
        </p:blipFill>
        <p:spPr>
          <a:xfrm>
            <a:off x="6492240" y="1755648"/>
            <a:ext cx="5029200" cy="3049531"/>
          </a:xfrm>
          <a:prstGeom prst="rect">
            <a:avLst/>
          </a:prstGeom>
        </p:spPr>
      </p:pic>
      <p:sp>
        <p:nvSpPr>
          <p:cNvPr id="6" name="TextBox 5"/>
          <p:cNvSpPr txBox="1"/>
          <p:nvPr/>
        </p:nvSpPr>
        <p:spPr>
          <a:xfrm>
            <a:off x="6492240" y="4860043"/>
            <a:ext cx="5029200" cy="320040"/>
          </a:xfrm>
          <a:prstGeom prst="rect">
            <a:avLst/>
          </a:prstGeom>
          <a:noFill/>
        </p:spPr>
        <p:txBody>
          <a:bodyPr wrap="square" anchor="t">
            <a:spAutoFit/>
          </a:bodyPr>
          <a:lstStyle/>
          <a:p>
            <a:pPr algn="l">
              <a:spcBef>
                <a:spcPts val="0"/>
              </a:spcBef>
              <a:spcAft>
                <a:spcPts val="600"/>
              </a:spcAft>
            </a:pPr>
            <a:r>
              <a:rPr sz="850" b="0" i="0" spc="120">
                <a:solidFill>
                  <a:srgbClr val="6E7D90"/>
                </a:solidFill>
                <a:latin typeface="Menlo"/>
              </a:rPr>
              <a:t>M1 · MARSH HARBOUR, BAHAMAS (SCHULBUCH S. 112)</a:t>
            </a:r>
          </a:p>
        </p:txBody>
      </p:sp>
      <p:sp>
        <p:nvSpPr>
          <p:cNvPr id="7" name="TextBox 6"/>
          <p:cNvSpPr txBox="1"/>
          <p:nvPr/>
        </p:nvSpPr>
        <p:spPr>
          <a:xfrm>
            <a:off x="713232" y="1965960"/>
            <a:ext cx="5212080" cy="1554480"/>
          </a:xfrm>
          <a:prstGeom prst="rect">
            <a:avLst/>
          </a:prstGeom>
          <a:noFill/>
        </p:spPr>
        <p:txBody>
          <a:bodyPr wrap="square" anchor="t">
            <a:spAutoFit/>
          </a:bodyPr>
          <a:lstStyle/>
          <a:p>
            <a:pPr algn="l">
              <a:lnSpc>
                <a:spcPct val="122000"/>
              </a:lnSpc>
              <a:spcBef>
                <a:spcPts val="0"/>
              </a:spcBef>
              <a:spcAft>
                <a:spcPts val="600"/>
              </a:spcAft>
            </a:pPr>
            <a:r>
              <a:rPr sz="2100" b="0" i="1">
                <a:solidFill>
                  <a:srgbClr val="E8EEF5"/>
                </a:solidFill>
                <a:latin typeface="Helvetica Neue"/>
              </a:rPr>
              <a:t>„Man kann nicht erkennen, dass dort mal Häuser standen.“</a:t>
            </a:r>
          </a:p>
        </p:txBody>
      </p:sp>
      <p:sp>
        <p:nvSpPr>
          <p:cNvPr id="8" name="TextBox 7"/>
          <p:cNvSpPr txBox="1"/>
          <p:nvPr/>
        </p:nvSpPr>
        <p:spPr>
          <a:xfrm>
            <a:off x="713232" y="3520440"/>
            <a:ext cx="5212080" cy="365760"/>
          </a:xfrm>
          <a:prstGeom prst="rect">
            <a:avLst/>
          </a:prstGeom>
          <a:noFill/>
        </p:spPr>
        <p:txBody>
          <a:bodyPr wrap="square" anchor="t">
            <a:spAutoFit/>
          </a:bodyPr>
          <a:lstStyle/>
          <a:p>
            <a:pPr algn="l">
              <a:spcBef>
                <a:spcPts val="0"/>
              </a:spcBef>
              <a:spcAft>
                <a:spcPts val="600"/>
              </a:spcAft>
            </a:pPr>
            <a:r>
              <a:rPr sz="950" b="0" i="0" spc="180">
                <a:solidFill>
                  <a:srgbClr val="6E7D90"/>
                </a:solidFill>
                <a:latin typeface="Menlo"/>
              </a:rPr>
              <a:t>AUGENZEUGE · CNN / DPA, 6.9.2019</a:t>
            </a:r>
          </a:p>
        </p:txBody>
      </p:sp>
      <p:sp>
        <p:nvSpPr>
          <p:cNvPr id="9" name="TextBox 8"/>
          <p:cNvSpPr txBox="1"/>
          <p:nvPr/>
        </p:nvSpPr>
        <p:spPr>
          <a:xfrm>
            <a:off x="713232" y="3977639"/>
            <a:ext cx="5212080" cy="1188720"/>
          </a:xfrm>
          <a:prstGeom prst="rect">
            <a:avLst/>
          </a:prstGeom>
          <a:noFill/>
        </p:spPr>
        <p:txBody>
          <a:bodyPr wrap="square" anchor="t">
            <a:spAutoFit/>
          </a:bodyPr>
          <a:lstStyle/>
          <a:p>
            <a:pPr algn="l">
              <a:lnSpc>
                <a:spcPct val="118000"/>
              </a:lnSpc>
              <a:spcBef>
                <a:spcPts val="0"/>
              </a:spcBef>
              <a:spcAft>
                <a:spcPts val="600"/>
              </a:spcAft>
            </a:pPr>
            <a:r>
              <a:rPr sz="1250" b="0" i="0">
                <a:solidFill>
                  <a:srgbClr val="9AA8BA"/>
                </a:solidFill>
                <a:latin typeface="Helvetica Neue"/>
              </a:rPr>
              <a:t>Dorian war der verheerendste Wirbelsturm, der die Bahamas je getroffen hat — einer der stärksten im Atlantik seit Beginn der Aufzeichnungen.</a:t>
            </a:r>
          </a:p>
        </p:txBody>
      </p:sp>
      <p:sp>
        <p:nvSpPr>
          <p:cNvPr id="10" name="Rounded Rectangle 9"/>
          <p:cNvSpPr/>
          <p:nvPr/>
        </p:nvSpPr>
        <p:spPr>
          <a:xfrm>
            <a:off x="685800" y="5394960"/>
            <a:ext cx="2560320" cy="1280160"/>
          </a:xfrm>
          <a:prstGeom prst="roundRect">
            <a:avLst>
              <a:gd name="adj" fmla="val 4500"/>
            </a:avLst>
          </a:prstGeom>
          <a:solidFill>
            <a:srgbClr val="111A27"/>
          </a:solidFill>
          <a:ln w="9525">
            <a:solidFill>
              <a:srgbClr val="2A36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86968" y="5504688"/>
            <a:ext cx="2194560" cy="1097280"/>
          </a:xfrm>
          <a:prstGeom prst="rect">
            <a:avLst/>
          </a:prstGeom>
          <a:noFill/>
        </p:spPr>
        <p:txBody>
          <a:bodyPr wrap="square" anchor="t">
            <a:spAutoFit/>
          </a:bodyPr>
          <a:lstStyle/>
          <a:p>
            <a:pPr algn="l">
              <a:spcBef>
                <a:spcPts val="0"/>
              </a:spcBef>
              <a:spcAft>
                <a:spcPts val="200"/>
              </a:spcAft>
            </a:pPr>
            <a:r>
              <a:rPr sz="2200" b="1" i="0">
                <a:solidFill>
                  <a:srgbClr val="E85A3A"/>
                </a:solidFill>
                <a:latin typeface="Menlo"/>
              </a:rPr>
              <a:t>13.000</a:t>
            </a:r>
          </a:p>
          <a:p>
            <a:pPr algn="l">
              <a:lnSpc>
                <a:spcPct val="105000"/>
              </a:lnSpc>
              <a:spcBef>
                <a:spcPts val="0"/>
              </a:spcBef>
              <a:spcAft>
                <a:spcPts val="600"/>
              </a:spcAft>
            </a:pPr>
            <a:r>
              <a:rPr sz="1000" b="0" i="0">
                <a:solidFill>
                  <a:srgbClr val="9AA8BA"/>
                </a:solidFill>
                <a:latin typeface="Helvetica Neue"/>
              </a:rPr>
              <a:t>Wohnhäuser schwer beschädigt oder zerstört (Rotes Kreuz)</a:t>
            </a:r>
          </a:p>
        </p:txBody>
      </p:sp>
      <p:sp>
        <p:nvSpPr>
          <p:cNvPr id="12" name="Rounded Rectangle 11"/>
          <p:cNvSpPr/>
          <p:nvPr/>
        </p:nvSpPr>
        <p:spPr>
          <a:xfrm>
            <a:off x="3456432" y="5394960"/>
            <a:ext cx="2560320" cy="1280160"/>
          </a:xfrm>
          <a:prstGeom prst="roundRect">
            <a:avLst>
              <a:gd name="adj" fmla="val 4500"/>
            </a:avLst>
          </a:prstGeom>
          <a:solidFill>
            <a:srgbClr val="111A27"/>
          </a:solidFill>
          <a:ln w="9525">
            <a:solidFill>
              <a:srgbClr val="2A36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57600" y="5504688"/>
            <a:ext cx="2194560" cy="1097280"/>
          </a:xfrm>
          <a:prstGeom prst="rect">
            <a:avLst/>
          </a:prstGeom>
          <a:noFill/>
        </p:spPr>
        <p:txBody>
          <a:bodyPr wrap="square" anchor="t">
            <a:spAutoFit/>
          </a:bodyPr>
          <a:lstStyle/>
          <a:p>
            <a:pPr algn="l">
              <a:spcBef>
                <a:spcPts val="0"/>
              </a:spcBef>
              <a:spcAft>
                <a:spcPts val="200"/>
              </a:spcAft>
            </a:pPr>
            <a:r>
              <a:rPr sz="2200" b="1" i="0">
                <a:solidFill>
                  <a:srgbClr val="E85A3A"/>
                </a:solidFill>
                <a:latin typeface="Menlo"/>
              </a:rPr>
              <a:t>70.000</a:t>
            </a:r>
          </a:p>
          <a:p>
            <a:pPr algn="l">
              <a:lnSpc>
                <a:spcPct val="105000"/>
              </a:lnSpc>
              <a:spcBef>
                <a:spcPts val="0"/>
              </a:spcBef>
              <a:spcAft>
                <a:spcPts val="600"/>
              </a:spcAft>
            </a:pPr>
            <a:r>
              <a:rPr sz="1000" b="0" i="0">
                <a:solidFill>
                  <a:srgbClr val="9AA8BA"/>
                </a:solidFill>
                <a:latin typeface="Helvetica Neue"/>
              </a:rPr>
              <a:t>Menschen brauchten dringend Hilfe — jeder fünfte Einwohner</a:t>
            </a:r>
          </a:p>
        </p:txBody>
      </p:sp>
      <p:sp>
        <p:nvSpPr>
          <p:cNvPr id="14" name="Rounded Rectangle 13"/>
          <p:cNvSpPr/>
          <p:nvPr/>
        </p:nvSpPr>
        <p:spPr>
          <a:xfrm>
            <a:off x="6227064" y="5394960"/>
            <a:ext cx="2560320" cy="1280160"/>
          </a:xfrm>
          <a:prstGeom prst="roundRect">
            <a:avLst>
              <a:gd name="adj" fmla="val 4500"/>
            </a:avLst>
          </a:prstGeom>
          <a:solidFill>
            <a:srgbClr val="111A27"/>
          </a:solidFill>
          <a:ln w="9525">
            <a:solidFill>
              <a:srgbClr val="2A36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28231" y="5504688"/>
            <a:ext cx="2194560" cy="1097280"/>
          </a:xfrm>
          <a:prstGeom prst="rect">
            <a:avLst/>
          </a:prstGeom>
          <a:noFill/>
        </p:spPr>
        <p:txBody>
          <a:bodyPr wrap="square" anchor="t">
            <a:spAutoFit/>
          </a:bodyPr>
          <a:lstStyle/>
          <a:p>
            <a:pPr algn="l">
              <a:spcBef>
                <a:spcPts val="0"/>
              </a:spcBef>
              <a:spcAft>
                <a:spcPts val="200"/>
              </a:spcAft>
            </a:pPr>
            <a:r>
              <a:rPr sz="2200" b="1" i="0">
                <a:solidFill>
                  <a:srgbClr val="E85A3A"/>
                </a:solidFill>
                <a:latin typeface="Menlo"/>
              </a:rPr>
              <a:t>30+</a:t>
            </a:r>
          </a:p>
          <a:p>
            <a:pPr algn="l">
              <a:lnSpc>
                <a:spcPct val="105000"/>
              </a:lnSpc>
              <a:spcBef>
                <a:spcPts val="0"/>
              </a:spcBef>
              <a:spcAft>
                <a:spcPts val="600"/>
              </a:spcAft>
            </a:pPr>
            <a:r>
              <a:rPr sz="1000" b="0" i="0">
                <a:solidFill>
                  <a:srgbClr val="9AA8BA"/>
                </a:solidFill>
                <a:latin typeface="Helvetica Neue"/>
              </a:rPr>
              <a:t>Todesopfer sofort bestätigt — später über 70</a:t>
            </a:r>
          </a:p>
        </p:txBody>
      </p:sp>
      <p:sp>
        <p:nvSpPr>
          <p:cNvPr id="16" name="Rounded Rectangle 15"/>
          <p:cNvSpPr/>
          <p:nvPr/>
        </p:nvSpPr>
        <p:spPr>
          <a:xfrm>
            <a:off x="8997696" y="5394960"/>
            <a:ext cx="2560320" cy="1280160"/>
          </a:xfrm>
          <a:prstGeom prst="roundRect">
            <a:avLst>
              <a:gd name="adj" fmla="val 4500"/>
            </a:avLst>
          </a:prstGeom>
          <a:solidFill>
            <a:srgbClr val="111A27"/>
          </a:solidFill>
          <a:ln w="9525">
            <a:solidFill>
              <a:srgbClr val="2A36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98864" y="5504688"/>
            <a:ext cx="2194560" cy="1097280"/>
          </a:xfrm>
          <a:prstGeom prst="rect">
            <a:avLst/>
          </a:prstGeom>
          <a:noFill/>
        </p:spPr>
        <p:txBody>
          <a:bodyPr wrap="square" anchor="t">
            <a:spAutoFit/>
          </a:bodyPr>
          <a:lstStyle/>
          <a:p>
            <a:pPr algn="l">
              <a:spcBef>
                <a:spcPts val="0"/>
              </a:spcBef>
              <a:spcAft>
                <a:spcPts val="200"/>
              </a:spcAft>
            </a:pPr>
            <a:r>
              <a:rPr sz="2200" b="1" i="0">
                <a:solidFill>
                  <a:srgbClr val="E85A3A"/>
                </a:solidFill>
                <a:latin typeface="Menlo"/>
              </a:rPr>
              <a:t>7 t</a:t>
            </a:r>
          </a:p>
          <a:p>
            <a:pPr algn="l">
              <a:lnSpc>
                <a:spcPct val="105000"/>
              </a:lnSpc>
              <a:spcBef>
                <a:spcPts val="0"/>
              </a:spcBef>
              <a:spcAft>
                <a:spcPts val="600"/>
              </a:spcAft>
            </a:pPr>
            <a:r>
              <a:rPr sz="1000" b="0" i="0">
                <a:solidFill>
                  <a:srgbClr val="9AA8BA"/>
                </a:solidFill>
                <a:latin typeface="Helvetica Neue"/>
              </a:rPr>
              <a:t>Fertiggerichte lieferte das Welternährungsprogramm</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B1119"/>
        </a:solidFill>
        <a:effectLst/>
      </p:bgPr>
    </p:bg>
    <p:spTree>
      <p:nvGrpSpPr>
        <p:cNvPr id="1" name=""/>
        <p:cNvGrpSpPr/>
        <p:nvPr/>
      </p:nvGrpSpPr>
      <p:grpSpPr/>
      <p:sp>
        <p:nvSpPr>
          <p:cNvPr id="2" name="TextBox 1"/>
          <p:cNvSpPr txBox="1"/>
          <p:nvPr/>
        </p:nvSpPr>
        <p:spPr>
          <a:xfrm>
            <a:off x="685800" y="502920"/>
            <a:ext cx="10789920" cy="365760"/>
          </a:xfrm>
          <a:prstGeom prst="rect">
            <a:avLst/>
          </a:prstGeom>
          <a:noFill/>
        </p:spPr>
        <p:txBody>
          <a:bodyPr wrap="square" anchor="t">
            <a:spAutoFit/>
          </a:bodyPr>
          <a:lstStyle/>
          <a:p>
            <a:pPr algn="l">
              <a:spcBef>
                <a:spcPts val="0"/>
              </a:spcBef>
              <a:spcAft>
                <a:spcPts val="600"/>
              </a:spcAft>
            </a:pPr>
            <a:r>
              <a:rPr sz="1200" b="0" i="0" spc="300">
                <a:solidFill>
                  <a:srgbClr val="62C8DE"/>
                </a:solidFill>
                <a:latin typeface="Menlo"/>
              </a:rPr>
              <a:t>KAPITEL 08 · DIE LEITFRAGE</a:t>
            </a:r>
          </a:p>
        </p:txBody>
      </p:sp>
      <p:sp>
        <p:nvSpPr>
          <p:cNvPr id="3" name="TextBox 2"/>
          <p:cNvSpPr txBox="1"/>
          <p:nvPr/>
        </p:nvSpPr>
        <p:spPr>
          <a:xfrm>
            <a:off x="658368" y="868680"/>
            <a:ext cx="10881360" cy="1463040"/>
          </a:xfrm>
          <a:prstGeom prst="rect">
            <a:avLst/>
          </a:prstGeom>
          <a:noFill/>
        </p:spPr>
        <p:txBody>
          <a:bodyPr wrap="square" anchor="t">
            <a:spAutoFit/>
          </a:bodyPr>
          <a:lstStyle/>
          <a:p>
            <a:pPr algn="l">
              <a:lnSpc>
                <a:spcPct val="98000"/>
              </a:lnSpc>
              <a:spcBef>
                <a:spcPts val="0"/>
              </a:spcBef>
              <a:spcAft>
                <a:spcPts val="600"/>
              </a:spcAft>
            </a:pPr>
            <a:r>
              <a:rPr sz="3400" b="1" i="0">
                <a:solidFill>
                  <a:srgbClr val="E8EEF5"/>
                </a:solidFill>
                <a:latin typeface="Avenir Next Condensed"/>
              </a:rPr>
              <a:t>GLEICHER STURM — UNGLEICHE CHANCEN</a:t>
            </a:r>
          </a:p>
        </p:txBody>
      </p:sp>
      <p:sp>
        <p:nvSpPr>
          <p:cNvPr id="4" name="Rounded Rectangle 3"/>
          <p:cNvSpPr/>
          <p:nvPr/>
        </p:nvSpPr>
        <p:spPr>
          <a:xfrm>
            <a:off x="685800" y="1783080"/>
            <a:ext cx="5285232" cy="4160520"/>
          </a:xfrm>
          <a:prstGeom prst="roundRect">
            <a:avLst>
              <a:gd name="adj" fmla="val 4500"/>
            </a:avLst>
          </a:prstGeom>
          <a:solidFill>
            <a:srgbClr val="111A27"/>
          </a:solidFill>
          <a:ln w="9525">
            <a:solidFill>
              <a:srgbClr val="2A36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85800" y="1783080"/>
            <a:ext cx="5285232" cy="54864"/>
          </a:xfrm>
          <a:prstGeom prst="rect">
            <a:avLst/>
          </a:prstGeom>
          <a:solidFill>
            <a:srgbClr val="E85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78408" y="2011680"/>
            <a:ext cx="4754880" cy="548640"/>
          </a:xfrm>
          <a:prstGeom prst="rect">
            <a:avLst/>
          </a:prstGeom>
          <a:noFill/>
        </p:spPr>
        <p:txBody>
          <a:bodyPr wrap="square" anchor="t">
            <a:spAutoFit/>
          </a:bodyPr>
          <a:lstStyle/>
          <a:p>
            <a:pPr algn="l">
              <a:spcBef>
                <a:spcPts val="0"/>
              </a:spcBef>
              <a:spcAft>
                <a:spcPts val="600"/>
              </a:spcAft>
            </a:pPr>
            <a:r>
              <a:rPr sz="1900" b="1" i="0">
                <a:solidFill>
                  <a:srgbClr val="E8EEF5"/>
                </a:solidFill>
                <a:latin typeface="Avenir Next Condensed"/>
              </a:rPr>
              <a:t>KARIBISCHE INSELSTAATEN</a:t>
            </a:r>
          </a:p>
          <a:p>
            <a:pPr algn="l">
              <a:spcBef>
                <a:spcPts val="0"/>
              </a:spcBef>
              <a:spcAft>
                <a:spcPts val="600"/>
              </a:spcAft>
            </a:pPr>
            <a:r>
              <a:rPr sz="900" b="0" i="0" spc="200">
                <a:solidFill>
                  <a:srgbClr val="E85A3A"/>
                </a:solidFill>
                <a:latin typeface="Menlo"/>
              </a:rPr>
              <a:t>HOHE VULNERABILITÄT</a:t>
            </a:r>
          </a:p>
        </p:txBody>
      </p:sp>
      <p:sp>
        <p:nvSpPr>
          <p:cNvPr id="7" name="TextBox 6"/>
          <p:cNvSpPr txBox="1"/>
          <p:nvPr/>
        </p:nvSpPr>
        <p:spPr>
          <a:xfrm>
            <a:off x="978408" y="2788920"/>
            <a:ext cx="4754880" cy="3108960"/>
          </a:xfrm>
          <a:prstGeom prst="rect">
            <a:avLst/>
          </a:prstGeom>
          <a:noFill/>
        </p:spPr>
        <p:txBody>
          <a:bodyPr wrap="square" anchor="t">
            <a:spAutoFit/>
          </a:bodyPr>
          <a:lstStyle/>
          <a:p>
            <a:pPr algn="l">
              <a:lnSpc>
                <a:spcPct val="110000"/>
              </a:lnSpc>
              <a:spcBef>
                <a:spcPts val="0"/>
              </a:spcBef>
              <a:spcAft>
                <a:spcPts val="700"/>
              </a:spcAft>
            </a:pPr>
            <a:r>
              <a:rPr sz="1250" b="0" i="0">
                <a:solidFill>
                  <a:srgbClr val="E85A3A"/>
                </a:solidFill>
                <a:latin typeface="Helvetica Neue"/>
              </a:rPr>
              <a:t>▪  </a:t>
            </a:r>
            <a:r>
              <a:rPr sz="1250" b="0" i="0">
                <a:solidFill>
                  <a:srgbClr val="9AA8BA"/>
                </a:solidFill>
                <a:latin typeface="Helvetica Neue"/>
              </a:rPr>
              <a:t>Mitten in Entstehungsgebiet und Zugbahnen der Hurrikans</a:t>
            </a:r>
          </a:p>
          <a:p>
            <a:pPr algn="l">
              <a:lnSpc>
                <a:spcPct val="110000"/>
              </a:lnSpc>
              <a:spcBef>
                <a:spcPts val="0"/>
              </a:spcBef>
              <a:spcAft>
                <a:spcPts val="700"/>
              </a:spcAft>
            </a:pPr>
            <a:r>
              <a:rPr sz="1250" b="0" i="0">
                <a:solidFill>
                  <a:srgbClr val="E85A3A"/>
                </a:solidFill>
                <a:latin typeface="Helvetica Neue"/>
              </a:rPr>
              <a:t>▪  </a:t>
            </a:r>
            <a:r>
              <a:rPr sz="1250" b="0" i="0">
                <a:solidFill>
                  <a:srgbClr val="9AA8BA"/>
                </a:solidFill>
                <a:latin typeface="Helvetica Neue"/>
              </a:rPr>
              <a:t>Fast alle Siedlungen in Küstennähe — voll im Bereich der Flutwellen</a:t>
            </a:r>
          </a:p>
          <a:p>
            <a:pPr algn="l">
              <a:lnSpc>
                <a:spcPct val="110000"/>
              </a:lnSpc>
              <a:spcBef>
                <a:spcPts val="0"/>
              </a:spcBef>
              <a:spcAft>
                <a:spcPts val="700"/>
              </a:spcAft>
            </a:pPr>
            <a:r>
              <a:rPr sz="1250" b="0" i="0">
                <a:solidFill>
                  <a:srgbClr val="E85A3A"/>
                </a:solidFill>
                <a:latin typeface="Helvetica Neue"/>
              </a:rPr>
              <a:t>▪  </a:t>
            </a:r>
            <a:r>
              <a:rPr sz="1250" b="0" i="0">
                <a:solidFill>
                  <a:srgbClr val="9AA8BA"/>
                </a:solidFill>
                <a:latin typeface="Helvetica Neue"/>
              </a:rPr>
              <a:t>Marode Bausubstanz, veraltete Infrastruktur</a:t>
            </a:r>
          </a:p>
          <a:p>
            <a:pPr algn="l">
              <a:lnSpc>
                <a:spcPct val="110000"/>
              </a:lnSpc>
              <a:spcBef>
                <a:spcPts val="0"/>
              </a:spcBef>
              <a:spcAft>
                <a:spcPts val="700"/>
              </a:spcAft>
            </a:pPr>
            <a:r>
              <a:rPr sz="1250" b="0" i="0">
                <a:solidFill>
                  <a:srgbClr val="E85A3A"/>
                </a:solidFill>
                <a:latin typeface="Helvetica Neue"/>
              </a:rPr>
              <a:t>▪  </a:t>
            </a:r>
            <a:r>
              <a:rPr sz="1250" b="0" i="0">
                <a:solidFill>
                  <a:srgbClr val="9AA8BA"/>
                </a:solidFill>
                <a:latin typeface="Helvetica Neue"/>
              </a:rPr>
              <a:t>Unzureichende Information, kaum Vorhersage- und Schutzmaßnahmen</a:t>
            </a:r>
          </a:p>
          <a:p>
            <a:pPr algn="l">
              <a:lnSpc>
                <a:spcPct val="110000"/>
              </a:lnSpc>
              <a:spcBef>
                <a:spcPts val="0"/>
              </a:spcBef>
              <a:spcAft>
                <a:spcPts val="700"/>
              </a:spcAft>
            </a:pPr>
            <a:r>
              <a:rPr sz="1250" b="0" i="0">
                <a:solidFill>
                  <a:srgbClr val="E85A3A"/>
                </a:solidFill>
                <a:latin typeface="Helvetica Neue"/>
              </a:rPr>
              <a:t>▪  </a:t>
            </a:r>
            <a:r>
              <a:rPr sz="1250" b="0" i="0">
                <a:solidFill>
                  <a:srgbClr val="9AA8BA"/>
                </a:solidFill>
                <a:latin typeface="Helvetica Neue"/>
              </a:rPr>
              <a:t>Kleine Volkswirtschaften: Ein Sturm trifft das ganze Land</a:t>
            </a:r>
          </a:p>
        </p:txBody>
      </p:sp>
      <p:sp>
        <p:nvSpPr>
          <p:cNvPr id="8" name="Rounded Rectangle 7"/>
          <p:cNvSpPr/>
          <p:nvPr/>
        </p:nvSpPr>
        <p:spPr>
          <a:xfrm>
            <a:off x="6217920" y="1783080"/>
            <a:ext cx="5285232" cy="4160520"/>
          </a:xfrm>
          <a:prstGeom prst="roundRect">
            <a:avLst>
              <a:gd name="adj" fmla="val 4500"/>
            </a:avLst>
          </a:prstGeom>
          <a:solidFill>
            <a:srgbClr val="111A27"/>
          </a:solidFill>
          <a:ln w="9525">
            <a:solidFill>
              <a:srgbClr val="2A36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217920" y="1783080"/>
            <a:ext cx="5285232" cy="54864"/>
          </a:xfrm>
          <a:prstGeom prst="rect">
            <a:avLst/>
          </a:prstGeom>
          <a:solidFill>
            <a:srgbClr val="62C8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10528" y="2011680"/>
            <a:ext cx="4754880" cy="548640"/>
          </a:xfrm>
          <a:prstGeom prst="rect">
            <a:avLst/>
          </a:prstGeom>
          <a:noFill/>
        </p:spPr>
        <p:txBody>
          <a:bodyPr wrap="square" anchor="t">
            <a:spAutoFit/>
          </a:bodyPr>
          <a:lstStyle/>
          <a:p>
            <a:pPr algn="l">
              <a:spcBef>
                <a:spcPts val="0"/>
              </a:spcBef>
              <a:spcAft>
                <a:spcPts val="600"/>
              </a:spcAft>
            </a:pPr>
            <a:r>
              <a:rPr sz="1900" b="1" i="0">
                <a:solidFill>
                  <a:srgbClr val="E8EEF5"/>
                </a:solidFill>
                <a:latin typeface="Avenir Next Condensed"/>
              </a:rPr>
              <a:t>USA — SCHUTZ ALS SYSTEM</a:t>
            </a:r>
          </a:p>
          <a:p>
            <a:pPr algn="l">
              <a:spcBef>
                <a:spcPts val="0"/>
              </a:spcBef>
              <a:spcAft>
                <a:spcPts val="600"/>
              </a:spcAft>
            </a:pPr>
            <a:r>
              <a:rPr sz="900" b="0" i="0" spc="200">
                <a:solidFill>
                  <a:srgbClr val="62C8DE"/>
                </a:solidFill>
                <a:latin typeface="Menlo"/>
              </a:rPr>
              <a:t>BEISPIEL M6</a:t>
            </a:r>
          </a:p>
        </p:txBody>
      </p:sp>
      <p:sp>
        <p:nvSpPr>
          <p:cNvPr id="11" name="TextBox 10"/>
          <p:cNvSpPr txBox="1"/>
          <p:nvPr/>
        </p:nvSpPr>
        <p:spPr>
          <a:xfrm>
            <a:off x="6510528" y="2788920"/>
            <a:ext cx="4754880" cy="3108960"/>
          </a:xfrm>
          <a:prstGeom prst="rect">
            <a:avLst/>
          </a:prstGeom>
          <a:noFill/>
        </p:spPr>
        <p:txBody>
          <a:bodyPr wrap="square" anchor="t">
            <a:spAutoFit/>
          </a:bodyPr>
          <a:lstStyle/>
          <a:p>
            <a:pPr algn="l">
              <a:lnSpc>
                <a:spcPct val="110000"/>
              </a:lnSpc>
              <a:spcBef>
                <a:spcPts val="0"/>
              </a:spcBef>
              <a:spcAft>
                <a:spcPts val="700"/>
              </a:spcAft>
            </a:pPr>
            <a:r>
              <a:rPr sz="1250" b="0" i="0">
                <a:solidFill>
                  <a:srgbClr val="62C8DE"/>
                </a:solidFill>
                <a:latin typeface="Helvetica Neue"/>
              </a:rPr>
              <a:t>●  </a:t>
            </a:r>
            <a:r>
              <a:rPr sz="1250" b="0" i="0">
                <a:solidFill>
                  <a:srgbClr val="9AA8BA"/>
                </a:solidFill>
                <a:latin typeface="Helvetica Neue"/>
              </a:rPr>
              <a:t>National Hurricane Center (NHC) überwacht jeden Sturm</a:t>
            </a:r>
          </a:p>
          <a:p>
            <a:pPr algn="l">
              <a:lnSpc>
                <a:spcPct val="110000"/>
              </a:lnSpc>
              <a:spcBef>
                <a:spcPts val="0"/>
              </a:spcBef>
              <a:spcAft>
                <a:spcPts val="700"/>
              </a:spcAft>
            </a:pPr>
            <a:r>
              <a:rPr sz="1250" b="0" i="0">
                <a:solidFill>
                  <a:srgbClr val="62C8DE"/>
                </a:solidFill>
                <a:latin typeface="Helvetica Neue"/>
              </a:rPr>
              <a:t>●  </a:t>
            </a:r>
            <a:r>
              <a:rPr sz="1250" b="0" i="0">
                <a:solidFill>
                  <a:srgbClr val="9AA8BA"/>
                </a:solidFill>
                <a:latin typeface="Helvetica Neue"/>
              </a:rPr>
              <a:t>Warnungen über TV, Radio, Mobiltelefon und Internet</a:t>
            </a:r>
          </a:p>
          <a:p>
            <a:pPr algn="l">
              <a:lnSpc>
                <a:spcPct val="110000"/>
              </a:lnSpc>
              <a:spcBef>
                <a:spcPts val="0"/>
              </a:spcBef>
              <a:spcAft>
                <a:spcPts val="700"/>
              </a:spcAft>
            </a:pPr>
            <a:r>
              <a:rPr sz="1250" b="0" i="0">
                <a:solidFill>
                  <a:srgbClr val="62C8DE"/>
                </a:solidFill>
                <a:latin typeface="Helvetica Neue"/>
              </a:rPr>
              <a:t>●  </a:t>
            </a:r>
            <a:r>
              <a:rPr sz="1250" b="0" i="0">
                <a:solidFill>
                  <a:srgbClr val="9AA8BA"/>
                </a:solidFill>
                <a:latin typeface="Helvetica Neue"/>
              </a:rPr>
              <a:t>Fertige Evakuierungspläne, sofort umsetzbar</a:t>
            </a:r>
          </a:p>
          <a:p>
            <a:pPr algn="l">
              <a:lnSpc>
                <a:spcPct val="110000"/>
              </a:lnSpc>
              <a:spcBef>
                <a:spcPts val="0"/>
              </a:spcBef>
              <a:spcAft>
                <a:spcPts val="700"/>
              </a:spcAft>
            </a:pPr>
            <a:r>
              <a:rPr sz="1250" b="0" i="0">
                <a:solidFill>
                  <a:srgbClr val="62C8DE"/>
                </a:solidFill>
                <a:latin typeface="Helvetica Neue"/>
              </a:rPr>
              <a:t>●  </a:t>
            </a:r>
            <a:r>
              <a:rPr sz="1250" b="0" i="0">
                <a:solidFill>
                  <a:srgbClr val="9AA8BA"/>
                </a:solidFill>
                <a:latin typeface="Helvetica Neue"/>
              </a:rPr>
              <a:t>Private Vorsorge: Häuser sichern, Vorräte, Versicherungen</a:t>
            </a:r>
          </a:p>
          <a:p>
            <a:pPr algn="l">
              <a:lnSpc>
                <a:spcPct val="110000"/>
              </a:lnSpc>
              <a:spcBef>
                <a:spcPts val="0"/>
              </a:spcBef>
              <a:spcAft>
                <a:spcPts val="700"/>
              </a:spcAft>
            </a:pPr>
            <a:r>
              <a:rPr sz="1250" b="0" i="0">
                <a:solidFill>
                  <a:srgbClr val="62C8DE"/>
                </a:solidFill>
                <a:latin typeface="Helvetica Neue"/>
              </a:rPr>
              <a:t>●  </a:t>
            </a:r>
            <a:r>
              <a:rPr sz="1250" b="0" i="0">
                <a:solidFill>
                  <a:srgbClr val="9AA8BA"/>
                </a:solidFill>
                <a:latin typeface="Helvetica Neue"/>
              </a:rPr>
              <a:t>Aufklärung über Gefahren nach dem Sturm (Brände, Gaslecks)</a:t>
            </a:r>
          </a:p>
        </p:txBody>
      </p:sp>
      <p:sp>
        <p:nvSpPr>
          <p:cNvPr id="12" name="TextBox 11"/>
          <p:cNvSpPr txBox="1"/>
          <p:nvPr/>
        </p:nvSpPr>
        <p:spPr>
          <a:xfrm>
            <a:off x="685800" y="6126480"/>
            <a:ext cx="10881360" cy="457200"/>
          </a:xfrm>
          <a:prstGeom prst="rect">
            <a:avLst/>
          </a:prstGeom>
          <a:noFill/>
        </p:spPr>
        <p:txBody>
          <a:bodyPr wrap="square" anchor="t">
            <a:spAutoFit/>
          </a:bodyPr>
          <a:lstStyle/>
          <a:p>
            <a:pPr algn="ctr">
              <a:spcBef>
                <a:spcPts val="0"/>
              </a:spcBef>
              <a:spcAft>
                <a:spcPts val="600"/>
              </a:spcAft>
            </a:pPr>
            <a:r>
              <a:rPr sz="1300" b="0" i="0" spc="250">
                <a:solidFill>
                  <a:srgbClr val="E8EEF5"/>
                </a:solidFill>
                <a:latin typeface="Menlo"/>
              </a:rPr>
              <a:t>NATURGEFAHR  ×  VERWUNDBARKEIT  =  AUSMASS DER KATASTROPHE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B1119"/>
        </a:solidFill>
        <a:effectLst/>
      </p:bgPr>
    </p:bg>
    <p:spTree>
      <p:nvGrpSpPr>
        <p:cNvPr id="1" name=""/>
        <p:cNvGrpSpPr/>
        <p:nvPr/>
      </p:nvGrpSpPr>
      <p:grpSpPr/>
      <p:sp>
        <p:nvSpPr>
          <p:cNvPr id="2" name="TextBox 1"/>
          <p:cNvSpPr txBox="1"/>
          <p:nvPr/>
        </p:nvSpPr>
        <p:spPr>
          <a:xfrm>
            <a:off x="685800" y="502920"/>
            <a:ext cx="10789920" cy="365760"/>
          </a:xfrm>
          <a:prstGeom prst="rect">
            <a:avLst/>
          </a:prstGeom>
          <a:noFill/>
        </p:spPr>
        <p:txBody>
          <a:bodyPr wrap="square" anchor="t">
            <a:spAutoFit/>
          </a:bodyPr>
          <a:lstStyle/>
          <a:p>
            <a:pPr algn="l">
              <a:spcBef>
                <a:spcPts val="0"/>
              </a:spcBef>
              <a:spcAft>
                <a:spcPts val="600"/>
              </a:spcAft>
            </a:pPr>
            <a:r>
              <a:rPr sz="1200" b="0" i="0" spc="300">
                <a:solidFill>
                  <a:srgbClr val="62C8DE"/>
                </a:solidFill>
                <a:latin typeface="Menlo"/>
              </a:rPr>
              <a:t>KAPITEL 09 · AUSBLICK</a:t>
            </a:r>
          </a:p>
        </p:txBody>
      </p:sp>
      <p:sp>
        <p:nvSpPr>
          <p:cNvPr id="3" name="TextBox 2"/>
          <p:cNvSpPr txBox="1"/>
          <p:nvPr/>
        </p:nvSpPr>
        <p:spPr>
          <a:xfrm>
            <a:off x="658368" y="868680"/>
            <a:ext cx="10881360" cy="1463040"/>
          </a:xfrm>
          <a:prstGeom prst="rect">
            <a:avLst/>
          </a:prstGeom>
          <a:noFill/>
        </p:spPr>
        <p:txBody>
          <a:bodyPr wrap="square" anchor="t">
            <a:spAutoFit/>
          </a:bodyPr>
          <a:lstStyle/>
          <a:p>
            <a:pPr algn="l">
              <a:lnSpc>
                <a:spcPct val="98000"/>
              </a:lnSpc>
              <a:spcBef>
                <a:spcPts val="0"/>
              </a:spcBef>
              <a:spcAft>
                <a:spcPts val="600"/>
              </a:spcAft>
            </a:pPr>
            <a:r>
              <a:rPr sz="4400" b="1" i="0">
                <a:solidFill>
                  <a:srgbClr val="E8EEF5"/>
                </a:solidFill>
                <a:latin typeface="Avenir Next Condensed"/>
              </a:rPr>
              <a:t>DER KLIMAWANDEL HEIZT NACH</a:t>
            </a:r>
          </a:p>
        </p:txBody>
      </p:sp>
      <p:sp>
        <p:nvSpPr>
          <p:cNvPr id="4" name="Rounded Rectangle 3"/>
          <p:cNvSpPr/>
          <p:nvPr/>
        </p:nvSpPr>
        <p:spPr>
          <a:xfrm>
            <a:off x="685800" y="1920240"/>
            <a:ext cx="3456432" cy="2286000"/>
          </a:xfrm>
          <a:prstGeom prst="roundRect">
            <a:avLst>
              <a:gd name="adj" fmla="val 4500"/>
            </a:avLst>
          </a:prstGeom>
          <a:solidFill>
            <a:srgbClr val="111A27"/>
          </a:solidFill>
          <a:ln w="9525">
            <a:solidFill>
              <a:srgbClr val="2A36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41832" y="2121408"/>
            <a:ext cx="2971800" cy="1920240"/>
          </a:xfrm>
          <a:prstGeom prst="rect">
            <a:avLst/>
          </a:prstGeom>
          <a:noFill/>
        </p:spPr>
        <p:txBody>
          <a:bodyPr wrap="square" anchor="t">
            <a:spAutoFit/>
          </a:bodyPr>
          <a:lstStyle/>
          <a:p>
            <a:pPr algn="l">
              <a:spcBef>
                <a:spcPts val="0"/>
              </a:spcBef>
              <a:spcAft>
                <a:spcPts val="200"/>
              </a:spcAft>
            </a:pPr>
            <a:r>
              <a:rPr sz="3000" b="1" i="0">
                <a:solidFill>
                  <a:srgbClr val="F5AE4B"/>
                </a:solidFill>
                <a:latin typeface="Helvetica Neue"/>
              </a:rPr>
              <a:t>↑</a:t>
            </a:r>
          </a:p>
          <a:p>
            <a:pPr algn="l">
              <a:spcBef>
                <a:spcPts val="0"/>
              </a:spcBef>
              <a:spcAft>
                <a:spcPts val="400"/>
              </a:spcAft>
            </a:pPr>
            <a:r>
              <a:rPr sz="1800" b="1" i="0">
                <a:solidFill>
                  <a:srgbClr val="E8EEF5"/>
                </a:solidFill>
                <a:latin typeface="Avenir Next Condensed"/>
              </a:rPr>
              <a:t>MEHR ENERGIE</a:t>
            </a:r>
          </a:p>
          <a:p>
            <a:pPr algn="l">
              <a:lnSpc>
                <a:spcPct val="115000"/>
              </a:lnSpc>
              <a:spcBef>
                <a:spcPts val="0"/>
              </a:spcBef>
              <a:spcAft>
                <a:spcPts val="600"/>
              </a:spcAft>
            </a:pPr>
            <a:r>
              <a:rPr sz="1250" b="0" i="0">
                <a:solidFill>
                  <a:srgbClr val="9AA8BA"/>
                </a:solidFill>
                <a:latin typeface="Helvetica Neue"/>
              </a:rPr>
              <a:t>Wärmere Ozeane liefern mehr Wasserdampf — der Anteil besonders starker Stürme (Kat. 4–5) steigt.</a:t>
            </a:r>
          </a:p>
        </p:txBody>
      </p:sp>
      <p:sp>
        <p:nvSpPr>
          <p:cNvPr id="6" name="Rounded Rectangle 5"/>
          <p:cNvSpPr/>
          <p:nvPr/>
        </p:nvSpPr>
        <p:spPr>
          <a:xfrm>
            <a:off x="4370832" y="1920240"/>
            <a:ext cx="3456432" cy="2286000"/>
          </a:xfrm>
          <a:prstGeom prst="roundRect">
            <a:avLst>
              <a:gd name="adj" fmla="val 4500"/>
            </a:avLst>
          </a:prstGeom>
          <a:solidFill>
            <a:srgbClr val="111A27"/>
          </a:solidFill>
          <a:ln w="9525">
            <a:solidFill>
              <a:srgbClr val="2A36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626864" y="2121408"/>
            <a:ext cx="2971800" cy="1920240"/>
          </a:xfrm>
          <a:prstGeom prst="rect">
            <a:avLst/>
          </a:prstGeom>
          <a:noFill/>
        </p:spPr>
        <p:txBody>
          <a:bodyPr wrap="square" anchor="t">
            <a:spAutoFit/>
          </a:bodyPr>
          <a:lstStyle/>
          <a:p>
            <a:pPr algn="l">
              <a:spcBef>
                <a:spcPts val="0"/>
              </a:spcBef>
              <a:spcAft>
                <a:spcPts val="200"/>
              </a:spcAft>
            </a:pPr>
            <a:r>
              <a:rPr sz="3000" b="1" i="0">
                <a:solidFill>
                  <a:srgbClr val="F5AE4B"/>
                </a:solidFill>
                <a:latin typeface="Helvetica Neue"/>
              </a:rPr>
              <a:t>↑</a:t>
            </a:r>
          </a:p>
          <a:p>
            <a:pPr algn="l">
              <a:spcBef>
                <a:spcPts val="0"/>
              </a:spcBef>
              <a:spcAft>
                <a:spcPts val="400"/>
              </a:spcAft>
            </a:pPr>
            <a:r>
              <a:rPr sz="1800" b="1" i="0">
                <a:solidFill>
                  <a:srgbClr val="E8EEF5"/>
                </a:solidFill>
                <a:latin typeface="Avenir Next Condensed"/>
              </a:rPr>
              <a:t>MEHR REGEN</a:t>
            </a:r>
          </a:p>
          <a:p>
            <a:pPr algn="l">
              <a:lnSpc>
                <a:spcPct val="115000"/>
              </a:lnSpc>
              <a:spcBef>
                <a:spcPts val="0"/>
              </a:spcBef>
              <a:spcAft>
                <a:spcPts val="600"/>
              </a:spcAft>
            </a:pPr>
            <a:r>
              <a:rPr sz="1250" b="0" i="0">
                <a:solidFill>
                  <a:srgbClr val="9AA8BA"/>
                </a:solidFill>
                <a:latin typeface="Helvetica Neue"/>
              </a:rPr>
              <a:t>Wärmere Luft speichert mehr Feuchtigkeit: heftigerer Starkregen — und Stürme ziehen teils langsamer, wie Dorian.</a:t>
            </a:r>
          </a:p>
        </p:txBody>
      </p:sp>
      <p:sp>
        <p:nvSpPr>
          <p:cNvPr id="8" name="Rounded Rectangle 7"/>
          <p:cNvSpPr/>
          <p:nvPr/>
        </p:nvSpPr>
        <p:spPr>
          <a:xfrm>
            <a:off x="8055864" y="1920240"/>
            <a:ext cx="3456432" cy="2286000"/>
          </a:xfrm>
          <a:prstGeom prst="roundRect">
            <a:avLst>
              <a:gd name="adj" fmla="val 4500"/>
            </a:avLst>
          </a:prstGeom>
          <a:solidFill>
            <a:srgbClr val="111A27"/>
          </a:solidFill>
          <a:ln w="9525">
            <a:solidFill>
              <a:srgbClr val="2A36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11896" y="2121408"/>
            <a:ext cx="2971800" cy="1920240"/>
          </a:xfrm>
          <a:prstGeom prst="rect">
            <a:avLst/>
          </a:prstGeom>
          <a:noFill/>
        </p:spPr>
        <p:txBody>
          <a:bodyPr wrap="square" anchor="t">
            <a:spAutoFit/>
          </a:bodyPr>
          <a:lstStyle/>
          <a:p>
            <a:pPr algn="l">
              <a:spcBef>
                <a:spcPts val="0"/>
              </a:spcBef>
              <a:spcAft>
                <a:spcPts val="200"/>
              </a:spcAft>
            </a:pPr>
            <a:r>
              <a:rPr sz="3000" b="1" i="0">
                <a:solidFill>
                  <a:srgbClr val="F5AE4B"/>
                </a:solidFill>
                <a:latin typeface="Helvetica Neue"/>
              </a:rPr>
              <a:t>↑</a:t>
            </a:r>
          </a:p>
          <a:p>
            <a:pPr algn="l">
              <a:spcBef>
                <a:spcPts val="0"/>
              </a:spcBef>
              <a:spcAft>
                <a:spcPts val="400"/>
              </a:spcAft>
            </a:pPr>
            <a:r>
              <a:rPr sz="1800" b="1" i="0">
                <a:solidFill>
                  <a:srgbClr val="E8EEF5"/>
                </a:solidFill>
                <a:latin typeface="Avenir Next Condensed"/>
              </a:rPr>
              <a:t>HÖHERE FLUTEN</a:t>
            </a:r>
          </a:p>
          <a:p>
            <a:pPr algn="l">
              <a:lnSpc>
                <a:spcPct val="115000"/>
              </a:lnSpc>
              <a:spcBef>
                <a:spcPts val="0"/>
              </a:spcBef>
              <a:spcAft>
                <a:spcPts val="600"/>
              </a:spcAft>
            </a:pPr>
            <a:r>
              <a:rPr sz="1250" b="0" i="0">
                <a:solidFill>
                  <a:srgbClr val="9AA8BA"/>
                </a:solidFill>
                <a:latin typeface="Helvetica Neue"/>
              </a:rPr>
              <a:t>Der steigende Meeresspiegel macht jede Sturmflut gefährlicher — besonders für flache Inselstaaten.</a:t>
            </a:r>
          </a:p>
        </p:txBody>
      </p:sp>
      <p:sp>
        <p:nvSpPr>
          <p:cNvPr id="10" name="TextBox 9"/>
          <p:cNvSpPr txBox="1"/>
          <p:nvPr/>
        </p:nvSpPr>
        <p:spPr>
          <a:xfrm>
            <a:off x="685800" y="4663440"/>
            <a:ext cx="10881360" cy="1188720"/>
          </a:xfrm>
          <a:prstGeom prst="rect">
            <a:avLst/>
          </a:prstGeom>
          <a:noFill/>
        </p:spPr>
        <p:txBody>
          <a:bodyPr wrap="square" anchor="t">
            <a:spAutoFit/>
          </a:bodyPr>
          <a:lstStyle/>
          <a:p>
            <a:pPr algn="l">
              <a:lnSpc>
                <a:spcPct val="125000"/>
              </a:lnSpc>
              <a:spcBef>
                <a:spcPts val="0"/>
              </a:spcBef>
              <a:spcAft>
                <a:spcPts val="600"/>
              </a:spcAft>
            </a:pPr>
            <a:r>
              <a:rPr sz="1500" b="1" i="0">
                <a:solidFill>
                  <a:srgbClr val="E8EEF5"/>
                </a:solidFill>
                <a:latin typeface="Helvetica Neue"/>
              </a:rPr>
              <a:t>Und Europa?  </a:t>
            </a:r>
            <a:r>
              <a:rPr sz="1500" b="0" i="0">
                <a:solidFill>
                  <a:srgbClr val="9AA8BA"/>
                </a:solidFill>
                <a:latin typeface="Helvetica Neue"/>
              </a:rPr>
              <a:t>Echte Hurrikans bleiben die Ausnahme — aber Ex-Hurrikane wie „Ophelia“ (2017) erreichten Irland, und im Mittelmeer treten hurrikanähnliche Stürme auf: sogenannte „Medicanes“. Mit wärmeren Meeren könnte das häufiger werden.</a:t>
            </a:r>
          </a:p>
        </p:txBody>
      </p:sp>
      <p:sp>
        <p:nvSpPr>
          <p:cNvPr id="11" name="TextBox 10"/>
          <p:cNvSpPr txBox="1"/>
          <p:nvPr/>
        </p:nvSpPr>
        <p:spPr>
          <a:xfrm>
            <a:off x="685800" y="6035040"/>
            <a:ext cx="7315200" cy="365760"/>
          </a:xfrm>
          <a:prstGeom prst="rect">
            <a:avLst/>
          </a:prstGeom>
          <a:noFill/>
        </p:spPr>
        <p:txBody>
          <a:bodyPr wrap="square" anchor="t">
            <a:spAutoFit/>
          </a:bodyPr>
          <a:lstStyle/>
          <a:p>
            <a:pPr algn="l">
              <a:spcBef>
                <a:spcPts val="0"/>
              </a:spcBef>
              <a:spcAft>
                <a:spcPts val="600"/>
              </a:spcAft>
            </a:pPr>
            <a:r>
              <a:rPr sz="900" b="0" i="0" spc="150">
                <a:solidFill>
                  <a:srgbClr val="6E7D90"/>
                </a:solidFill>
                <a:latin typeface="Menlo"/>
              </a:rPr>
              <a:t>RECHERCHE: IPCC / NOAA · AUFGABE 6, S. 112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B1119"/>
        </a:solidFill>
        <a:effectLst/>
      </p:bgPr>
    </p:bg>
    <p:spTree>
      <p:nvGrpSpPr>
        <p:cNvPr id="1" name=""/>
        <p:cNvGrpSpPr/>
        <p:nvPr/>
      </p:nvGrpSpPr>
      <p:grpSpPr/>
      <p:pic>
        <p:nvPicPr>
          <p:cNvPr id="2" name="Picture 1" descr="storm_hero.jp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685800" y="640080"/>
            <a:ext cx="10817352" cy="365760"/>
          </a:xfrm>
          <a:prstGeom prst="rect">
            <a:avLst/>
          </a:prstGeom>
          <a:noFill/>
        </p:spPr>
        <p:txBody>
          <a:bodyPr wrap="square" anchor="t">
            <a:spAutoFit/>
          </a:bodyPr>
          <a:lstStyle/>
          <a:p>
            <a:pPr algn="ctr">
              <a:spcBef>
                <a:spcPts val="0"/>
              </a:spcBef>
              <a:spcAft>
                <a:spcPts val="600"/>
              </a:spcAft>
            </a:pPr>
            <a:r>
              <a:rPr sz="1200" b="0" i="0" spc="300">
                <a:solidFill>
                  <a:srgbClr val="62C8DE"/>
                </a:solidFill>
                <a:latin typeface="Menlo"/>
              </a:rPr>
              <a:t>KAPITEL 10 · FAZIT</a:t>
            </a:r>
          </a:p>
        </p:txBody>
      </p:sp>
      <p:sp>
        <p:nvSpPr>
          <p:cNvPr id="4" name="TextBox 3"/>
          <p:cNvSpPr txBox="1"/>
          <p:nvPr/>
        </p:nvSpPr>
        <p:spPr>
          <a:xfrm>
            <a:off x="658368" y="1051560"/>
            <a:ext cx="10881360" cy="1188720"/>
          </a:xfrm>
          <a:prstGeom prst="rect">
            <a:avLst/>
          </a:prstGeom>
          <a:noFill/>
        </p:spPr>
        <p:txBody>
          <a:bodyPr wrap="square" anchor="t">
            <a:spAutoFit/>
          </a:bodyPr>
          <a:lstStyle/>
          <a:p>
            <a:pPr algn="ctr">
              <a:spcBef>
                <a:spcPts val="0"/>
              </a:spcBef>
              <a:spcAft>
                <a:spcPts val="600"/>
              </a:spcAft>
            </a:pPr>
            <a:r>
              <a:rPr sz="5400" b="1" i="0">
                <a:solidFill>
                  <a:srgbClr val="E8EEF5"/>
                </a:solidFill>
                <a:latin typeface="Avenir Next Condensed"/>
              </a:rPr>
              <a:t>DARUM DIE KARIBIK</a:t>
            </a:r>
          </a:p>
        </p:txBody>
      </p:sp>
      <p:sp>
        <p:nvSpPr>
          <p:cNvPr id="5" name="Rounded Rectangle 4"/>
          <p:cNvSpPr/>
          <p:nvPr/>
        </p:nvSpPr>
        <p:spPr>
          <a:xfrm>
            <a:off x="685800" y="2651760"/>
            <a:ext cx="3456432" cy="2148840"/>
          </a:xfrm>
          <a:prstGeom prst="roundRect">
            <a:avLst>
              <a:gd name="adj" fmla="val 4500"/>
            </a:avLst>
          </a:prstGeom>
          <a:solidFill>
            <a:srgbClr val="111A27"/>
          </a:solidFill>
          <a:ln w="9525">
            <a:solidFill>
              <a:srgbClr val="2A36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41832" y="2834640"/>
            <a:ext cx="2971800" cy="1828800"/>
          </a:xfrm>
          <a:prstGeom prst="rect">
            <a:avLst/>
          </a:prstGeom>
          <a:noFill/>
        </p:spPr>
        <p:txBody>
          <a:bodyPr wrap="square" anchor="t">
            <a:spAutoFit/>
          </a:bodyPr>
          <a:lstStyle/>
          <a:p>
            <a:pPr algn="l">
              <a:spcBef>
                <a:spcPts val="0"/>
              </a:spcBef>
              <a:spcAft>
                <a:spcPts val="500"/>
              </a:spcAft>
            </a:pPr>
            <a:r>
              <a:rPr sz="1000" b="0" i="0" spc="250">
                <a:solidFill>
                  <a:srgbClr val="62C8DE"/>
                </a:solidFill>
                <a:latin typeface="Menlo"/>
              </a:rPr>
              <a:t>GRUND 01</a:t>
            </a:r>
          </a:p>
          <a:p>
            <a:pPr algn="l">
              <a:lnSpc>
                <a:spcPct val="115000"/>
              </a:lnSpc>
              <a:spcBef>
                <a:spcPts val="0"/>
              </a:spcBef>
              <a:spcAft>
                <a:spcPts val="600"/>
              </a:spcAft>
            </a:pPr>
            <a:r>
              <a:rPr sz="1300" b="1" i="0">
                <a:solidFill>
                  <a:srgbClr val="E8EEF5"/>
                </a:solidFill>
                <a:latin typeface="Helvetica Neue"/>
              </a:rPr>
              <a:t>Lage: </a:t>
            </a:r>
            <a:r>
              <a:rPr sz="1300" b="0" i="0">
                <a:solidFill>
                  <a:srgbClr val="9AA8BA"/>
                </a:solidFill>
                <a:latin typeface="Helvetica Neue"/>
              </a:rPr>
              <a:t>Die Inseln liegen genau im warmen Entstehungsgebiet und auf den Zugbahnen — Jahr für Jahr, Juni bis November.</a:t>
            </a:r>
          </a:p>
        </p:txBody>
      </p:sp>
      <p:sp>
        <p:nvSpPr>
          <p:cNvPr id="7" name="Rounded Rectangle 6"/>
          <p:cNvSpPr/>
          <p:nvPr/>
        </p:nvSpPr>
        <p:spPr>
          <a:xfrm>
            <a:off x="4370832" y="2651760"/>
            <a:ext cx="3456432" cy="2148840"/>
          </a:xfrm>
          <a:prstGeom prst="roundRect">
            <a:avLst>
              <a:gd name="adj" fmla="val 4500"/>
            </a:avLst>
          </a:prstGeom>
          <a:solidFill>
            <a:srgbClr val="111A27"/>
          </a:solidFill>
          <a:ln w="9525">
            <a:solidFill>
              <a:srgbClr val="2A36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626864" y="2834640"/>
            <a:ext cx="2971800" cy="1828800"/>
          </a:xfrm>
          <a:prstGeom prst="rect">
            <a:avLst/>
          </a:prstGeom>
          <a:noFill/>
        </p:spPr>
        <p:txBody>
          <a:bodyPr wrap="square" anchor="t">
            <a:spAutoFit/>
          </a:bodyPr>
          <a:lstStyle/>
          <a:p>
            <a:pPr algn="l">
              <a:spcBef>
                <a:spcPts val="0"/>
              </a:spcBef>
              <a:spcAft>
                <a:spcPts val="500"/>
              </a:spcAft>
            </a:pPr>
            <a:r>
              <a:rPr sz="1000" b="0" i="0" spc="250">
                <a:solidFill>
                  <a:srgbClr val="62C8DE"/>
                </a:solidFill>
                <a:latin typeface="Menlo"/>
              </a:rPr>
              <a:t>GRUND 02</a:t>
            </a:r>
          </a:p>
          <a:p>
            <a:pPr algn="l">
              <a:lnSpc>
                <a:spcPct val="115000"/>
              </a:lnSpc>
              <a:spcBef>
                <a:spcPts val="0"/>
              </a:spcBef>
              <a:spcAft>
                <a:spcPts val="600"/>
              </a:spcAft>
            </a:pPr>
            <a:r>
              <a:rPr sz="1300" b="1" i="0">
                <a:solidFill>
                  <a:srgbClr val="E8EEF5"/>
                </a:solidFill>
                <a:latin typeface="Helvetica Neue"/>
              </a:rPr>
              <a:t>Verwundbarkeit: </a:t>
            </a:r>
            <a:r>
              <a:rPr sz="1300" b="0" i="0">
                <a:solidFill>
                  <a:srgbClr val="9AA8BA"/>
                </a:solidFill>
                <a:latin typeface="Helvetica Neue"/>
              </a:rPr>
              <a:t>Küstennahe Siedlungen, schwache Bausubstanz und fehlende Warnsysteme machen aus der Naturgefahr eine Katastrophe.</a:t>
            </a:r>
          </a:p>
        </p:txBody>
      </p:sp>
      <p:sp>
        <p:nvSpPr>
          <p:cNvPr id="9" name="Rounded Rectangle 8"/>
          <p:cNvSpPr/>
          <p:nvPr/>
        </p:nvSpPr>
        <p:spPr>
          <a:xfrm>
            <a:off x="8055864" y="2651760"/>
            <a:ext cx="3456432" cy="2148840"/>
          </a:xfrm>
          <a:prstGeom prst="roundRect">
            <a:avLst>
              <a:gd name="adj" fmla="val 4500"/>
            </a:avLst>
          </a:prstGeom>
          <a:solidFill>
            <a:srgbClr val="111A27"/>
          </a:solidFill>
          <a:ln w="9525">
            <a:solidFill>
              <a:srgbClr val="2A36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11896" y="2834640"/>
            <a:ext cx="2971800" cy="1828800"/>
          </a:xfrm>
          <a:prstGeom prst="rect">
            <a:avLst/>
          </a:prstGeom>
          <a:noFill/>
        </p:spPr>
        <p:txBody>
          <a:bodyPr wrap="square" anchor="t">
            <a:spAutoFit/>
          </a:bodyPr>
          <a:lstStyle/>
          <a:p>
            <a:pPr algn="l">
              <a:spcBef>
                <a:spcPts val="0"/>
              </a:spcBef>
              <a:spcAft>
                <a:spcPts val="500"/>
              </a:spcAft>
            </a:pPr>
            <a:r>
              <a:rPr sz="1000" b="0" i="0" spc="250">
                <a:solidFill>
                  <a:srgbClr val="62C8DE"/>
                </a:solidFill>
                <a:latin typeface="Menlo"/>
              </a:rPr>
              <a:t>GRUND 03</a:t>
            </a:r>
          </a:p>
          <a:p>
            <a:pPr algn="l">
              <a:lnSpc>
                <a:spcPct val="115000"/>
              </a:lnSpc>
              <a:spcBef>
                <a:spcPts val="0"/>
              </a:spcBef>
              <a:spcAft>
                <a:spcPts val="600"/>
              </a:spcAft>
            </a:pPr>
            <a:r>
              <a:rPr sz="1300" b="1" i="0">
                <a:solidFill>
                  <a:srgbClr val="E8EEF5"/>
                </a:solidFill>
                <a:latin typeface="Helvetica Neue"/>
              </a:rPr>
              <a:t>Zukunft: </a:t>
            </a:r>
            <a:r>
              <a:rPr sz="1300" b="0" i="0">
                <a:solidFill>
                  <a:srgbClr val="9AA8BA"/>
                </a:solidFill>
                <a:latin typeface="Helvetica Neue"/>
              </a:rPr>
              <a:t>Der Klimawandel liefert den Stürmen mehr Energie — die Risiken wachsen weiter.</a:t>
            </a:r>
          </a:p>
        </p:txBody>
      </p:sp>
      <p:sp>
        <p:nvSpPr>
          <p:cNvPr id="11" name="TextBox 10"/>
          <p:cNvSpPr txBox="1"/>
          <p:nvPr/>
        </p:nvSpPr>
        <p:spPr>
          <a:xfrm>
            <a:off x="1371600" y="5257800"/>
            <a:ext cx="9445752" cy="1188720"/>
          </a:xfrm>
          <a:prstGeom prst="rect">
            <a:avLst/>
          </a:prstGeom>
          <a:noFill/>
        </p:spPr>
        <p:txBody>
          <a:bodyPr wrap="square" anchor="t">
            <a:spAutoFit/>
          </a:bodyPr>
          <a:lstStyle/>
          <a:p>
            <a:pPr algn="ctr">
              <a:spcBef>
                <a:spcPts val="0"/>
              </a:spcBef>
              <a:spcAft>
                <a:spcPts val="400"/>
              </a:spcAft>
            </a:pPr>
            <a:r>
              <a:rPr sz="1300" b="0" i="0" spc="350">
                <a:solidFill>
                  <a:srgbClr val="6E7D90"/>
                </a:solidFill>
                <a:latin typeface="Menlo"/>
              </a:rPr>
              <a:t>DANKE FÜRS ZUSCHAUEN</a:t>
            </a:r>
          </a:p>
          <a:p>
            <a:pPr algn="ctr">
              <a:spcBef>
                <a:spcPts val="0"/>
              </a:spcBef>
              <a:spcAft>
                <a:spcPts val="600"/>
              </a:spcAft>
            </a:pPr>
            <a:r>
              <a:rPr sz="1100" b="0" i="0" spc="250">
                <a:solidFill>
                  <a:srgbClr val="9AA8BA"/>
                </a:solidFill>
                <a:latin typeface="Menlo"/>
              </a:rPr>
              <a:t>EINE PRÄSENTATION VON · NAME 1 · NAME 2 · NAME 3</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B1119"/>
        </a:solidFill>
        <a:effectLst/>
      </p:bgPr>
    </p:bg>
    <p:spTree>
      <p:nvGrpSpPr>
        <p:cNvPr id="1" name=""/>
        <p:cNvGrpSpPr/>
        <p:nvPr/>
      </p:nvGrpSpPr>
      <p:grpSpPr/>
      <p:sp>
        <p:nvSpPr>
          <p:cNvPr id="2" name="TextBox 1"/>
          <p:cNvSpPr txBox="1"/>
          <p:nvPr/>
        </p:nvSpPr>
        <p:spPr>
          <a:xfrm>
            <a:off x="685800" y="502920"/>
            <a:ext cx="10789920" cy="365760"/>
          </a:xfrm>
          <a:prstGeom prst="rect">
            <a:avLst/>
          </a:prstGeom>
          <a:noFill/>
        </p:spPr>
        <p:txBody>
          <a:bodyPr wrap="square" anchor="t">
            <a:spAutoFit/>
          </a:bodyPr>
          <a:lstStyle/>
          <a:p>
            <a:pPr algn="l">
              <a:spcBef>
                <a:spcPts val="0"/>
              </a:spcBef>
              <a:spcAft>
                <a:spcPts val="600"/>
              </a:spcAft>
            </a:pPr>
            <a:r>
              <a:rPr sz="1200" b="0" i="0" spc="300">
                <a:solidFill>
                  <a:srgbClr val="62C8DE"/>
                </a:solidFill>
                <a:latin typeface="Menlo"/>
              </a:rPr>
              <a:t>ANHANG</a:t>
            </a:r>
          </a:p>
        </p:txBody>
      </p:sp>
      <p:sp>
        <p:nvSpPr>
          <p:cNvPr id="3" name="TextBox 2"/>
          <p:cNvSpPr txBox="1"/>
          <p:nvPr/>
        </p:nvSpPr>
        <p:spPr>
          <a:xfrm>
            <a:off x="658368" y="868680"/>
            <a:ext cx="10881360" cy="1463040"/>
          </a:xfrm>
          <a:prstGeom prst="rect">
            <a:avLst/>
          </a:prstGeom>
          <a:noFill/>
        </p:spPr>
        <p:txBody>
          <a:bodyPr wrap="square" anchor="t">
            <a:spAutoFit/>
          </a:bodyPr>
          <a:lstStyle/>
          <a:p>
            <a:pPr algn="l">
              <a:lnSpc>
                <a:spcPct val="98000"/>
              </a:lnSpc>
              <a:spcBef>
                <a:spcPts val="0"/>
              </a:spcBef>
              <a:spcAft>
                <a:spcPts val="600"/>
              </a:spcAft>
            </a:pPr>
            <a:r>
              <a:rPr sz="3600" b="1" i="0">
                <a:solidFill>
                  <a:srgbClr val="E8EEF5"/>
                </a:solidFill>
                <a:latin typeface="Avenir Next Condensed"/>
              </a:rPr>
              <a:t>QUELLEN</a:t>
            </a:r>
          </a:p>
        </p:txBody>
      </p:sp>
      <p:sp>
        <p:nvSpPr>
          <p:cNvPr id="4" name="TextBox 3"/>
          <p:cNvSpPr txBox="1"/>
          <p:nvPr/>
        </p:nvSpPr>
        <p:spPr>
          <a:xfrm>
            <a:off x="713232" y="1920240"/>
            <a:ext cx="10515600" cy="4114800"/>
          </a:xfrm>
          <a:prstGeom prst="rect">
            <a:avLst/>
          </a:prstGeom>
          <a:noFill/>
        </p:spPr>
        <p:txBody>
          <a:bodyPr wrap="square" anchor="t">
            <a:spAutoFit/>
          </a:bodyPr>
          <a:lstStyle/>
          <a:p>
            <a:pPr algn="l">
              <a:lnSpc>
                <a:spcPct val="120000"/>
              </a:lnSpc>
              <a:spcBef>
                <a:spcPts val="0"/>
              </a:spcBef>
              <a:spcAft>
                <a:spcPts val="1000"/>
              </a:spcAft>
            </a:pPr>
            <a:r>
              <a:rPr sz="1400" b="0" i="0">
                <a:solidFill>
                  <a:srgbClr val="62C8DE"/>
                </a:solidFill>
                <a:latin typeface="Helvetica Neue"/>
              </a:rPr>
              <a:t>—  </a:t>
            </a:r>
            <a:r>
              <a:rPr sz="1400" b="0" i="0">
                <a:solidFill>
                  <a:srgbClr val="9AA8BA"/>
                </a:solidFill>
                <a:latin typeface="Helvetica Neue"/>
              </a:rPr>
              <a:t>Schulbuch Geographie (© Westermann), S. 112–113 — Materialien M1–M6</a:t>
            </a:r>
          </a:p>
          <a:p>
            <a:pPr algn="l">
              <a:lnSpc>
                <a:spcPct val="120000"/>
              </a:lnSpc>
              <a:spcBef>
                <a:spcPts val="0"/>
              </a:spcBef>
              <a:spcAft>
                <a:spcPts val="1000"/>
              </a:spcAft>
            </a:pPr>
            <a:r>
              <a:rPr sz="1400" b="0" i="0">
                <a:solidFill>
                  <a:srgbClr val="62C8DE"/>
                </a:solidFill>
                <a:latin typeface="Helvetica Neue"/>
              </a:rPr>
              <a:t>—  </a:t>
            </a:r>
            <a:r>
              <a:rPr sz="1400" b="0" i="0">
                <a:solidFill>
                  <a:srgbClr val="9AA8BA"/>
                </a:solidFill>
                <a:latin typeface="Helvetica Neue"/>
              </a:rPr>
              <a:t>dpa-Bericht vom 6.9.2019 (M4): Auswirkungen des Hurrikans Dorian auf den Bahamas</a:t>
            </a:r>
          </a:p>
          <a:p>
            <a:pPr algn="l">
              <a:lnSpc>
                <a:spcPct val="120000"/>
              </a:lnSpc>
              <a:spcBef>
                <a:spcPts val="0"/>
              </a:spcBef>
              <a:spcAft>
                <a:spcPts val="1000"/>
              </a:spcAft>
            </a:pPr>
            <a:r>
              <a:rPr sz="1400" b="0" i="0">
                <a:solidFill>
                  <a:srgbClr val="62C8DE"/>
                </a:solidFill>
                <a:latin typeface="Helvetica Neue"/>
              </a:rPr>
              <a:t>—  </a:t>
            </a:r>
            <a:r>
              <a:rPr sz="1400" b="0" i="0">
                <a:solidFill>
                  <a:srgbClr val="9AA8BA"/>
                </a:solidFill>
                <a:latin typeface="Helvetica Neue"/>
              </a:rPr>
              <a:t>Zusatzrecherche: NOAA / National Hurricane Center — Kerndruck, Böen, Zugverhalten Dorian</a:t>
            </a:r>
          </a:p>
          <a:p>
            <a:pPr algn="l">
              <a:lnSpc>
                <a:spcPct val="120000"/>
              </a:lnSpc>
              <a:spcBef>
                <a:spcPts val="0"/>
              </a:spcBef>
              <a:spcAft>
                <a:spcPts val="1000"/>
              </a:spcAft>
            </a:pPr>
            <a:r>
              <a:rPr sz="1400" b="0" i="0">
                <a:solidFill>
                  <a:srgbClr val="62C8DE"/>
                </a:solidFill>
                <a:latin typeface="Helvetica Neue"/>
              </a:rPr>
              <a:t>—  </a:t>
            </a:r>
            <a:r>
              <a:rPr sz="1400" b="0" i="0">
                <a:solidFill>
                  <a:srgbClr val="9AA8BA"/>
                </a:solidFill>
                <a:latin typeface="Helvetica Neue"/>
              </a:rPr>
              <a:t>IPCC-Berichte — Trends tropischer Wirbelstürme im Klimawandel</a:t>
            </a:r>
          </a:p>
          <a:p>
            <a:pPr algn="l">
              <a:lnSpc>
                <a:spcPct val="120000"/>
              </a:lnSpc>
              <a:spcBef>
                <a:spcPts val="0"/>
              </a:spcBef>
              <a:spcAft>
                <a:spcPts val="1000"/>
              </a:spcAft>
            </a:pPr>
            <a:r>
              <a:rPr sz="1400" b="0" i="0">
                <a:solidFill>
                  <a:srgbClr val="62C8DE"/>
                </a:solidFill>
                <a:latin typeface="Helvetica Neue"/>
              </a:rPr>
              <a:t>—  </a:t>
            </a:r>
            <a:r>
              <a:rPr sz="1400" b="0" i="0">
                <a:solidFill>
                  <a:srgbClr val="9AA8BA"/>
                </a:solidFill>
                <a:latin typeface="Helvetica Neue"/>
              </a:rPr>
              <a:t>Abbildungen M1, M2, M3, M5 aus dem Schulbuch abfotografiert — Nutzung nur für den Unterricht</a:t>
            </a:r>
          </a:p>
          <a:p>
            <a:pPr algn="l">
              <a:lnSpc>
                <a:spcPct val="120000"/>
              </a:lnSpc>
              <a:spcBef>
                <a:spcPts val="0"/>
              </a:spcBef>
              <a:spcAft>
                <a:spcPts val="1000"/>
              </a:spcAft>
            </a:pPr>
            <a:r>
              <a:rPr sz="1400" b="0" i="0">
                <a:solidFill>
                  <a:srgbClr val="62C8DE"/>
                </a:solidFill>
                <a:latin typeface="Helvetica Neue"/>
              </a:rPr>
              <a:t>—  </a:t>
            </a:r>
            <a:r>
              <a:rPr sz="1400" b="0" i="0">
                <a:solidFill>
                  <a:srgbClr val="9AA8BA"/>
                </a:solidFill>
                <a:latin typeface="Helvetica Neue"/>
              </a:rPr>
              <a:t>Titelgrafik: eigene Sturm-Simulation (Canvas)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